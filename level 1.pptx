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1" r:id="rId1"/>
  </p:sldMasterIdLst>
  <p:notesMasterIdLst>
    <p:notesMasterId r:id="rId10"/>
  </p:notesMasterIdLst>
  <p:sldIdLst>
    <p:sldId id="258" r:id="rId2"/>
    <p:sldId id="256" r:id="rId3"/>
    <p:sldId id="259" r:id="rId4"/>
    <p:sldId id="261" r:id="rId5"/>
    <p:sldId id="257" r:id="rId6"/>
    <p:sldId id="263" r:id="rId7"/>
    <p:sldId id="262" r:id="rId8"/>
    <p:sldId id="260"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688" autoAdjust="0"/>
  </p:normalViewPr>
  <p:slideViewPr>
    <p:cSldViewPr snapToGrid="0">
      <p:cViewPr varScale="1">
        <p:scale>
          <a:sx n="96" d="100"/>
          <a:sy n="96" d="100"/>
        </p:scale>
        <p:origin x="111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79700C-BD76-4FAE-B2DA-9935E4CAB9C2}" type="datetimeFigureOut">
              <a:rPr lang="en-US" smtClean="0"/>
              <a:t>7/31/2026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396724-0A92-44F8-A748-0B317592C679}" type="slidenum">
              <a:rPr lang="en-US" smtClean="0"/>
              <a:t>‹#›</a:t>
            </a:fld>
            <a:endParaRPr lang="en-US"/>
          </a:p>
        </p:txBody>
      </p:sp>
    </p:spTree>
    <p:extLst>
      <p:ext uri="{BB962C8B-B14F-4D97-AF65-F5344CB8AC3E}">
        <p14:creationId xmlns:p14="http://schemas.microsoft.com/office/powerpoint/2010/main" val="1991956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396724-0A92-44F8-A748-0B317592C679}" type="slidenum">
              <a:rPr lang="en-US" smtClean="0"/>
              <a:t>2</a:t>
            </a:fld>
            <a:endParaRPr lang="en-US"/>
          </a:p>
        </p:txBody>
      </p:sp>
    </p:spTree>
    <p:extLst>
      <p:ext uri="{BB962C8B-B14F-4D97-AF65-F5344CB8AC3E}">
        <p14:creationId xmlns:p14="http://schemas.microsoft.com/office/powerpoint/2010/main" val="38002598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26B8C1F-7BD5-4263-B1FE-A06CEA247EC7}"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11B2D1-C002-430C-B0FD-A2072EBAF38A}" type="slidenum">
              <a:rPr lang="en-US" smtClean="0"/>
              <a:t>‹#›</a:t>
            </a:fld>
            <a:endParaRPr lang="en-US"/>
          </a:p>
        </p:txBody>
      </p:sp>
    </p:spTree>
    <p:extLst>
      <p:ext uri="{BB962C8B-B14F-4D97-AF65-F5344CB8AC3E}">
        <p14:creationId xmlns:p14="http://schemas.microsoft.com/office/powerpoint/2010/main" val="2966405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6B8C1F-7BD5-4263-B1FE-A06CEA247EC7}"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11B2D1-C002-430C-B0FD-A2072EBAF38A}" type="slidenum">
              <a:rPr lang="en-US" smtClean="0"/>
              <a:t>‹#›</a:t>
            </a:fld>
            <a:endParaRPr lang="en-US"/>
          </a:p>
        </p:txBody>
      </p:sp>
    </p:spTree>
    <p:extLst>
      <p:ext uri="{BB962C8B-B14F-4D97-AF65-F5344CB8AC3E}">
        <p14:creationId xmlns:p14="http://schemas.microsoft.com/office/powerpoint/2010/main" val="9638887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6B8C1F-7BD5-4263-B1FE-A06CEA247EC7}"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11B2D1-C002-430C-B0FD-A2072EBAF38A}" type="slidenum">
              <a:rPr lang="en-US" smtClean="0"/>
              <a:t>‹#›</a:t>
            </a:fld>
            <a:endParaRPr lang="en-US"/>
          </a:p>
        </p:txBody>
      </p:sp>
    </p:spTree>
    <p:extLst>
      <p:ext uri="{BB962C8B-B14F-4D97-AF65-F5344CB8AC3E}">
        <p14:creationId xmlns:p14="http://schemas.microsoft.com/office/powerpoint/2010/main" val="2063970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26B8C1F-7BD5-4263-B1FE-A06CEA247EC7}" type="datetimeFigureOut">
              <a:rPr lang="en-US" smtClean="0"/>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11B2D1-C002-430C-B0FD-A2072EBAF38A}" type="slidenum">
              <a:rPr lang="en-US" smtClean="0"/>
              <a:t>‹#›</a:t>
            </a:fld>
            <a:endParaRPr lang="en-US"/>
          </a:p>
        </p:txBody>
      </p:sp>
    </p:spTree>
    <p:extLst>
      <p:ext uri="{BB962C8B-B14F-4D97-AF65-F5344CB8AC3E}">
        <p14:creationId xmlns:p14="http://schemas.microsoft.com/office/powerpoint/2010/main" val="28839180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26B8C1F-7BD5-4263-B1FE-A06CEA247EC7}" type="datetimeFigureOut">
              <a:rPr lang="en-US" smtClean="0"/>
              <a:t>7/31/2026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011B2D1-C002-430C-B0FD-A2072EBAF38A}" type="slidenum">
              <a:rPr lang="en-US" smtClean="0"/>
              <a:t>‹#›</a:t>
            </a:fld>
            <a:endParaRPr lang="en-US"/>
          </a:p>
        </p:txBody>
      </p:sp>
    </p:spTree>
    <p:extLst>
      <p:ext uri="{BB962C8B-B14F-4D97-AF65-F5344CB8AC3E}">
        <p14:creationId xmlns:p14="http://schemas.microsoft.com/office/powerpoint/2010/main" val="7707258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26B8C1F-7BD5-4263-B1FE-A06CEA247EC7}" type="datetimeFigureOut">
              <a:rPr lang="en-US" smtClean="0"/>
              <a:t>7/31/2026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011B2D1-C002-430C-B0FD-A2072EBAF38A}" type="slidenum">
              <a:rPr lang="en-US" smtClean="0"/>
              <a:t>‹#›</a:t>
            </a:fld>
            <a:endParaRPr lang="en-US"/>
          </a:p>
        </p:txBody>
      </p:sp>
    </p:spTree>
    <p:extLst>
      <p:ext uri="{BB962C8B-B14F-4D97-AF65-F5344CB8AC3E}">
        <p14:creationId xmlns:p14="http://schemas.microsoft.com/office/powerpoint/2010/main" val="1892418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6B8C1F-7BD5-4263-B1FE-A06CEA247EC7}" type="datetimeFigureOut">
              <a:rPr lang="en-US" smtClean="0"/>
              <a:t>7/31/2026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011B2D1-C002-430C-B0FD-A2072EBAF38A}" type="slidenum">
              <a:rPr lang="en-US" smtClean="0"/>
              <a:t>‹#›</a:t>
            </a:fld>
            <a:endParaRPr lang="en-US"/>
          </a:p>
        </p:txBody>
      </p:sp>
    </p:spTree>
    <p:extLst>
      <p:ext uri="{BB962C8B-B14F-4D97-AF65-F5344CB8AC3E}">
        <p14:creationId xmlns:p14="http://schemas.microsoft.com/office/powerpoint/2010/main" val="735545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6B8C1F-7BD5-4263-B1FE-A06CEA247EC7}" type="datetimeFigureOut">
              <a:rPr lang="en-US" smtClean="0"/>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11B2D1-C002-430C-B0FD-A2072EBAF38A}" type="slidenum">
              <a:rPr lang="en-US" smtClean="0"/>
              <a:t>‹#›</a:t>
            </a:fld>
            <a:endParaRPr lang="en-US"/>
          </a:p>
        </p:txBody>
      </p:sp>
    </p:spTree>
    <p:extLst>
      <p:ext uri="{BB962C8B-B14F-4D97-AF65-F5344CB8AC3E}">
        <p14:creationId xmlns:p14="http://schemas.microsoft.com/office/powerpoint/2010/main" val="3510702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6B8C1F-7BD5-4263-B1FE-A06CEA247EC7}" type="datetimeFigureOut">
              <a:rPr lang="en-US" smtClean="0"/>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11B2D1-C002-430C-B0FD-A2072EBAF38A}" type="slidenum">
              <a:rPr lang="en-US" smtClean="0"/>
              <a:t>‹#›</a:t>
            </a:fld>
            <a:endParaRPr lang="en-US"/>
          </a:p>
        </p:txBody>
      </p:sp>
    </p:spTree>
    <p:extLst>
      <p:ext uri="{BB962C8B-B14F-4D97-AF65-F5344CB8AC3E}">
        <p14:creationId xmlns:p14="http://schemas.microsoft.com/office/powerpoint/2010/main" val="38342082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6B8C1F-7BD5-4263-B1FE-A06CEA247EC7}" type="datetimeFigureOut">
              <a:rPr lang="en-US" smtClean="0"/>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11B2D1-C002-430C-B0FD-A2072EBAF38A}" type="slidenum">
              <a:rPr lang="en-US" smtClean="0"/>
              <a:t>‹#›</a:t>
            </a:fld>
            <a:endParaRPr lang="en-US"/>
          </a:p>
        </p:txBody>
      </p:sp>
    </p:spTree>
    <p:extLst>
      <p:ext uri="{BB962C8B-B14F-4D97-AF65-F5344CB8AC3E}">
        <p14:creationId xmlns:p14="http://schemas.microsoft.com/office/powerpoint/2010/main" val="1141982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6B8C1F-7BD5-4263-B1FE-A06CEA247EC7}" type="datetimeFigureOut">
              <a:rPr lang="en-US" smtClean="0"/>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11B2D1-C002-430C-B0FD-A2072EBAF38A}" type="slidenum">
              <a:rPr lang="en-US" smtClean="0"/>
              <a:t>‹#›</a:t>
            </a:fld>
            <a:endParaRPr lang="en-US"/>
          </a:p>
        </p:txBody>
      </p:sp>
    </p:spTree>
    <p:extLst>
      <p:ext uri="{BB962C8B-B14F-4D97-AF65-F5344CB8AC3E}">
        <p14:creationId xmlns:p14="http://schemas.microsoft.com/office/powerpoint/2010/main" val="39278425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6B8C1F-7BD5-4263-B1FE-A06CEA247EC7}" type="datetimeFigureOut">
              <a:rPr lang="en-US" smtClean="0"/>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11B2D1-C002-430C-B0FD-A2072EBAF38A}" type="slidenum">
              <a:rPr lang="en-US" smtClean="0"/>
              <a:t>‹#›</a:t>
            </a:fld>
            <a:endParaRPr lang="en-US"/>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8192391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6B8C1F-7BD5-4263-B1FE-A06CEA247EC7}" type="datetimeFigureOut">
              <a:rPr lang="en-US" smtClean="0"/>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11B2D1-C002-430C-B0FD-A2072EBAF38A}" type="slidenum">
              <a:rPr lang="en-US" smtClean="0"/>
              <a:t>‹#›</a:t>
            </a:fld>
            <a:endParaRPr lang="en-US"/>
          </a:p>
        </p:txBody>
      </p:sp>
    </p:spTree>
    <p:extLst>
      <p:ext uri="{BB962C8B-B14F-4D97-AF65-F5344CB8AC3E}">
        <p14:creationId xmlns:p14="http://schemas.microsoft.com/office/powerpoint/2010/main" val="26657818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26B8C1F-7BD5-4263-B1FE-A06CEA247EC7}" type="datetimeFigureOut">
              <a:rPr lang="en-US" smtClean="0"/>
              <a:t>7/31/2026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011B2D1-C002-430C-B0FD-A2072EBAF38A}" type="slidenum">
              <a:rPr lang="en-US" smtClean="0"/>
              <a:t>‹#›</a:t>
            </a:fld>
            <a:endParaRPr lang="en-US"/>
          </a:p>
        </p:txBody>
      </p:sp>
    </p:spTree>
    <p:extLst>
      <p:ext uri="{BB962C8B-B14F-4D97-AF65-F5344CB8AC3E}">
        <p14:creationId xmlns:p14="http://schemas.microsoft.com/office/powerpoint/2010/main" val="5638385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26B8C1F-7BD5-4263-B1FE-A06CEA247EC7}" type="datetimeFigureOut">
              <a:rPr lang="en-US" smtClean="0"/>
              <a:t>7/31/2026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011B2D1-C002-430C-B0FD-A2072EBAF38A}" type="slidenum">
              <a:rPr lang="en-US" smtClean="0"/>
              <a:t>‹#›</a:t>
            </a:fld>
            <a:endParaRPr lang="en-US"/>
          </a:p>
        </p:txBody>
      </p:sp>
    </p:spTree>
    <p:extLst>
      <p:ext uri="{BB962C8B-B14F-4D97-AF65-F5344CB8AC3E}">
        <p14:creationId xmlns:p14="http://schemas.microsoft.com/office/powerpoint/2010/main" val="41631258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6B8C1F-7BD5-4263-B1FE-A06CEA247EC7}"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11B2D1-C002-430C-B0FD-A2072EBAF38A}" type="slidenum">
              <a:rPr lang="en-US" smtClean="0"/>
              <a:t>‹#›</a:t>
            </a:fld>
            <a:endParaRPr lang="en-US"/>
          </a:p>
        </p:txBody>
      </p:sp>
    </p:spTree>
    <p:extLst>
      <p:ext uri="{BB962C8B-B14F-4D97-AF65-F5344CB8AC3E}">
        <p14:creationId xmlns:p14="http://schemas.microsoft.com/office/powerpoint/2010/main" val="8300149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6B8C1F-7BD5-4263-B1FE-A06CEA247EC7}"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11B2D1-C002-430C-B0FD-A2072EBAF38A}" type="slidenum">
              <a:rPr lang="en-US" smtClean="0"/>
              <a:t>‹#›</a:t>
            </a:fld>
            <a:endParaRPr lang="en-US"/>
          </a:p>
        </p:txBody>
      </p:sp>
    </p:spTree>
    <p:extLst>
      <p:ext uri="{BB962C8B-B14F-4D97-AF65-F5344CB8AC3E}">
        <p14:creationId xmlns:p14="http://schemas.microsoft.com/office/powerpoint/2010/main" val="37060767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226B8C1F-7BD5-4263-B1FE-A06CEA247EC7}" type="datetimeFigureOut">
              <a:rPr lang="en-US" smtClean="0"/>
              <a:t>7/31/2026</a:t>
            </a:fld>
            <a:endParaRPr lang="en-US"/>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9011B2D1-C002-430C-B0FD-A2072EBAF38A}" type="slidenum">
              <a:rPr lang="en-US" smtClean="0"/>
              <a:t>‹#›</a:t>
            </a:fld>
            <a:endParaRPr lang="en-US"/>
          </a:p>
        </p:txBody>
      </p:sp>
    </p:spTree>
    <p:extLst>
      <p:ext uri="{BB962C8B-B14F-4D97-AF65-F5344CB8AC3E}">
        <p14:creationId xmlns:p14="http://schemas.microsoft.com/office/powerpoint/2010/main" val="2446469238"/>
      </p:ext>
    </p:extLst>
  </p:cSld>
  <p:clrMap bg1="dk1" tx1="lt1" bg2="dk2" tx2="lt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 id="2147483745" r:id="rId14"/>
    <p:sldLayoutId id="2147483746" r:id="rId15"/>
    <p:sldLayoutId id="2147483747" r:id="rId16"/>
    <p:sldLayoutId id="2147483748"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microsoft.com/office/2007/relationships/hdphoto" Target="../media/hdphoto2.wdp"/><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microsoft.com/office/2007/relationships/hdphoto" Target="../media/hdphoto1.wdp"/><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microsoft.com/office/2007/relationships/hdphoto" Target="../media/hdphoto4.wdp"/><Relationship Id="rId2" Type="http://schemas.openxmlformats.org/officeDocument/2006/relationships/image" Target="../media/image5.jpeg"/><Relationship Id="rId1" Type="http://schemas.openxmlformats.org/officeDocument/2006/relationships/slideLayout" Target="../slideLayouts/slideLayout1.xml"/><Relationship Id="rId6" Type="http://schemas.openxmlformats.org/officeDocument/2006/relationships/image" Target="../media/image8.png"/><Relationship Id="rId5" Type="http://schemas.microsoft.com/office/2007/relationships/hdphoto" Target="../media/hdphoto3.wdp"/><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9.png"/><Relationship Id="rId1" Type="http://schemas.openxmlformats.org/officeDocument/2006/relationships/slideLayout" Target="../slideLayouts/slideLayout1.xml"/><Relationship Id="rId5" Type="http://schemas.openxmlformats.org/officeDocument/2006/relationships/image" Target="../media/image11.jpe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microsoft.com/office/2007/relationships/hdphoto" Target="../media/hdphoto6.wdp"/><Relationship Id="rId3" Type="http://schemas.openxmlformats.org/officeDocument/2006/relationships/hyperlink" Target="https://www.aljazeera.net/tech/2023/12/26/%D8%A3%D9%83%D8%A8%D8%B1-%D8%A7%D8%AE%D8%AA%D8%B1%D8%A7%D9%82-%D9%81%D9%8A-2023-%D9%83%D9%8A%D9%81-%D8%AA%D8%B3%D8%A8%D8%A8%D8%AA-%D8%AB%D8%BA%D8%B1%D8%A9-%D8%A3%D9%85%D9%86%D9%8A%D8%A9-%D9%81%D9%8A" TargetMode="External"/><Relationship Id="rId7" Type="http://schemas.openxmlformats.org/officeDocument/2006/relationships/image" Target="../media/image13.png"/><Relationship Id="rId2" Type="http://schemas.openxmlformats.org/officeDocument/2006/relationships/hyperlink" Target="level%201.pptx" TargetMode="Externa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hyperlink" Target="https://www.cybersecuritydive.com/news/file-transfer-services-under-attack/699722/" TargetMode="External"/><Relationship Id="rId4" Type="http://schemas.openxmlformats.org/officeDocument/2006/relationships/hyperlink" Target="https://translate.google.com/translate?u=https://www.secude.com/posts/10-data-leaks-that-have-cost-fortune-500-companies-a-fortune&amp;hl=ar&amp;sl=en&amp;tl=ar&amp;client=sge" TargetMode="External"/><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microsoft.com/office/2007/relationships/hdphoto" Target="../media/hdphoto7.wdp"/><Relationship Id="rId7" Type="http://schemas.microsoft.com/office/2007/relationships/hdphoto" Target="../media/hdphoto9.wdp"/><Relationship Id="rId2"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17.png"/><Relationship Id="rId5" Type="http://schemas.microsoft.com/office/2007/relationships/hdphoto" Target="../media/hdphoto8.wdp"/><Relationship Id="rId4" Type="http://schemas.openxmlformats.org/officeDocument/2006/relationships/image" Target="../media/image16.png"/><Relationship Id="rId9" Type="http://schemas.microsoft.com/office/2007/relationships/hdphoto" Target="../media/hdphoto10.wdp"/></Relationships>
</file>

<file path=ppt/slides/_rels/slide7.xml.rels><?xml version="1.0" encoding="UTF-8" standalone="yes"?>
<Relationships xmlns="http://schemas.openxmlformats.org/package/2006/relationships"><Relationship Id="rId3" Type="http://schemas.microsoft.com/office/2007/relationships/hdphoto" Target="../media/hdphoto11.wdp"/><Relationship Id="rId7" Type="http://schemas.microsoft.com/office/2007/relationships/hdphoto" Target="../media/hdphoto13.wdp"/><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21.png"/><Relationship Id="rId5" Type="http://schemas.microsoft.com/office/2007/relationships/hdphoto" Target="../media/hdphoto12.wdp"/><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1.xml"/><Relationship Id="rId5" Type="http://schemas.openxmlformats.org/officeDocument/2006/relationships/image" Target="../media/image25.jpeg"/><Relationship Id="rId4" Type="http://schemas.openxmlformats.org/officeDocument/2006/relationships/image" Target="../media/image2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10694-134E-EA72-8448-8F3E58D60CB9}"/>
              </a:ext>
            </a:extLst>
          </p:cNvPr>
          <p:cNvSpPr>
            <a:spLocks noGrp="1"/>
          </p:cNvSpPr>
          <p:nvPr>
            <p:ph type="ctrTitle"/>
          </p:nvPr>
        </p:nvSpPr>
        <p:spPr>
          <a:xfrm>
            <a:off x="1595269" y="205361"/>
            <a:ext cx="9001462" cy="572210"/>
          </a:xfrm>
        </p:spPr>
        <p:txBody>
          <a:bodyPr>
            <a:normAutofit/>
          </a:bodyPr>
          <a:lstStyle/>
          <a:p>
            <a:r>
              <a:rPr lang="en-US" sz="3200" u="sng" dirty="0">
                <a:solidFill>
                  <a:schemeClr val="accent1">
                    <a:lumMod val="60000"/>
                    <a:lumOff val="40000"/>
                  </a:schemeClr>
                </a:solidFill>
              </a:rPr>
              <a:t>File Upload Vulnerability</a:t>
            </a:r>
          </a:p>
        </p:txBody>
      </p:sp>
      <p:sp>
        <p:nvSpPr>
          <p:cNvPr id="3" name="Subtitle 2">
            <a:extLst>
              <a:ext uri="{FF2B5EF4-FFF2-40B4-BE49-F238E27FC236}">
                <a16:creationId xmlns:a16="http://schemas.microsoft.com/office/drawing/2014/main" id="{8E2DC08D-D6C0-6C8D-CD1F-ED2108986068}"/>
              </a:ext>
            </a:extLst>
          </p:cNvPr>
          <p:cNvSpPr>
            <a:spLocks noGrp="1"/>
          </p:cNvSpPr>
          <p:nvPr>
            <p:ph type="subTitle" idx="1"/>
          </p:nvPr>
        </p:nvSpPr>
        <p:spPr>
          <a:xfrm>
            <a:off x="533400" y="980770"/>
            <a:ext cx="11366500" cy="5877230"/>
          </a:xfrm>
        </p:spPr>
        <p:txBody>
          <a:bodyPr>
            <a:normAutofit fontScale="77500" lnSpcReduction="20000"/>
          </a:bodyPr>
          <a:lstStyle/>
          <a:p>
            <a:pPr algn="r" rtl="1"/>
            <a:br>
              <a:rPr lang="ar-EG" sz="2800" b="1" dirty="0"/>
            </a:br>
            <a:r>
              <a:rPr lang="ar-EG" sz="2800" b="1" dirty="0"/>
              <a:t>إعداد الطالب: وليد عمرو عبد المعبود خيال</a:t>
            </a:r>
            <a:br>
              <a:rPr lang="ar-EG" sz="2800" b="1" dirty="0"/>
            </a:br>
            <a:r>
              <a:rPr lang="ar-EG" sz="2800" b="1" dirty="0"/>
              <a:t>                                                                                                       16</a:t>
            </a:r>
            <a:r>
              <a:rPr lang="en-US" sz="2800" b="1" dirty="0"/>
              <a:t>Group number :</a:t>
            </a:r>
          </a:p>
          <a:p>
            <a:pPr algn="r" rtl="1"/>
            <a:r>
              <a:rPr lang="ar-EG" sz="2800" b="1" dirty="0"/>
              <a:t>المادة : الأمن السيبراني </a:t>
            </a:r>
            <a:r>
              <a:rPr lang="en-US" sz="2800" b="1" dirty="0"/>
              <a:t>NTI</a:t>
            </a:r>
            <a:r>
              <a:rPr lang="ar-EG" sz="2800" b="1" dirty="0"/>
              <a:t> </a:t>
            </a:r>
          </a:p>
          <a:p>
            <a:pPr rtl="1"/>
            <a:r>
              <a:rPr lang="ar-EG" sz="2800" b="1" dirty="0"/>
              <a:t>  المحتويات</a:t>
            </a:r>
          </a:p>
          <a:p>
            <a:pPr marL="514350" indent="-514350" algn="r" rtl="1">
              <a:buFont typeface="+mj-lt"/>
              <a:buAutoNum type="arabicPeriod"/>
            </a:pPr>
            <a:r>
              <a:rPr lang="ar-EG" sz="2900" b="1" dirty="0">
                <a:effectLst>
                  <a:outerShdw blurRad="38100" dist="38100" dir="2700000" algn="tl">
                    <a:srgbClr val="000000">
                      <a:alpha val="43137"/>
                    </a:srgbClr>
                  </a:outerShdw>
                </a:effectLst>
              </a:rPr>
              <a:t>المقدمة</a:t>
            </a:r>
          </a:p>
          <a:p>
            <a:pPr marL="514350" indent="-514350" algn="r" rtl="1">
              <a:buFont typeface="+mj-lt"/>
              <a:buAutoNum type="arabicPeriod"/>
            </a:pPr>
            <a:r>
              <a:rPr lang="ar-EG" sz="2900" b="1" dirty="0">
                <a:effectLst>
                  <a:outerShdw blurRad="38100" dist="38100" dir="2700000" algn="tl">
                    <a:srgbClr val="000000">
                      <a:alpha val="43137"/>
                    </a:srgbClr>
                  </a:outerShdw>
                </a:effectLst>
              </a:rPr>
              <a:t>ما هي ثغرة رفع الملفات؟ </a:t>
            </a:r>
          </a:p>
          <a:p>
            <a:pPr marL="514350" indent="-514350" algn="r" rtl="1">
              <a:buFont typeface="+mj-lt"/>
              <a:buAutoNum type="arabicPeriod"/>
            </a:pPr>
            <a:r>
              <a:rPr lang="ar-EG" sz="2900" b="1" dirty="0"/>
              <a:t>أسباب حدوث ثغرة رفع الملفات</a:t>
            </a:r>
          </a:p>
          <a:p>
            <a:pPr marL="514350" indent="-514350" algn="r" rtl="1">
              <a:buFont typeface="+mj-lt"/>
              <a:buAutoNum type="arabicPeriod"/>
            </a:pPr>
            <a:r>
              <a:rPr lang="ar-EG" sz="2900" b="1" dirty="0"/>
              <a:t>اضرار ثغرة رفع الملفات</a:t>
            </a:r>
          </a:p>
          <a:p>
            <a:pPr marL="514350" indent="-514350" algn="r" rtl="1">
              <a:buFont typeface="+mj-lt"/>
              <a:buAutoNum type="arabicPeriod"/>
            </a:pPr>
            <a:r>
              <a:rPr lang="ar-EG" sz="2900" b="1" dirty="0"/>
              <a:t>أحداث هزت سيرفرات ضخمة </a:t>
            </a:r>
          </a:p>
          <a:p>
            <a:pPr marL="514350" indent="-514350" algn="r" rtl="1">
              <a:buFont typeface="+mj-lt"/>
              <a:buAutoNum type="arabicPeriod"/>
            </a:pPr>
            <a:r>
              <a:rPr lang="ar-EG" sz="2900" b="1" dirty="0"/>
              <a:t>الملفات المخادعة</a:t>
            </a:r>
          </a:p>
          <a:p>
            <a:pPr marL="514350" indent="-514350" algn="r" rtl="1">
              <a:buFont typeface="+mj-lt"/>
              <a:buAutoNum type="arabicPeriod"/>
            </a:pPr>
            <a:r>
              <a:rPr lang="ar-EG" sz="2900" b="1" dirty="0"/>
              <a:t>اخطر انواع الملفات </a:t>
            </a:r>
          </a:p>
          <a:p>
            <a:pPr marL="514350" indent="-514350" algn="r" rtl="1">
              <a:buFont typeface="+mj-lt"/>
              <a:buAutoNum type="arabicPeriod"/>
            </a:pPr>
            <a:r>
              <a:rPr lang="ar-EG" sz="2900" b="1" dirty="0"/>
              <a:t>طرق الوقاية والحماية</a:t>
            </a:r>
            <a:endParaRPr lang="en-US" sz="2900" b="1" dirty="0"/>
          </a:p>
        </p:txBody>
      </p:sp>
    </p:spTree>
    <p:extLst>
      <p:ext uri="{BB962C8B-B14F-4D97-AF65-F5344CB8AC3E}">
        <p14:creationId xmlns:p14="http://schemas.microsoft.com/office/powerpoint/2010/main" val="13498421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B83FE-85AA-4C1C-8708-9B4C41E68776}"/>
              </a:ext>
            </a:extLst>
          </p:cNvPr>
          <p:cNvSpPr>
            <a:spLocks noGrp="1"/>
          </p:cNvSpPr>
          <p:nvPr>
            <p:ph type="ctrTitle"/>
          </p:nvPr>
        </p:nvSpPr>
        <p:spPr>
          <a:xfrm>
            <a:off x="1524000" y="0"/>
            <a:ext cx="9144000" cy="683172"/>
          </a:xfrm>
        </p:spPr>
        <p:txBody>
          <a:bodyPr>
            <a:normAutofit/>
          </a:bodyPr>
          <a:lstStyle/>
          <a:p>
            <a:pPr rtl="1">
              <a:lnSpc>
                <a:spcPct val="100000"/>
              </a:lnSpc>
            </a:pPr>
            <a:r>
              <a:rPr lang="ar-EG" sz="3200" b="1" dirty="0">
                <a:solidFill>
                  <a:srgbClr val="0070C0"/>
                </a:solidFill>
              </a:rPr>
              <a:t>ما هي ثغرة رفع الملفات؟ </a:t>
            </a:r>
            <a:endParaRPr lang="en-US" sz="3200" b="1" dirty="0">
              <a:solidFill>
                <a:srgbClr val="0070C0"/>
              </a:solidFill>
            </a:endParaRPr>
          </a:p>
        </p:txBody>
      </p:sp>
      <p:sp>
        <p:nvSpPr>
          <p:cNvPr id="3" name="Subtitle 2">
            <a:extLst>
              <a:ext uri="{FF2B5EF4-FFF2-40B4-BE49-F238E27FC236}">
                <a16:creationId xmlns:a16="http://schemas.microsoft.com/office/drawing/2014/main" id="{6B923E3C-65AC-A2F1-FE8D-476845A82182}"/>
              </a:ext>
            </a:extLst>
          </p:cNvPr>
          <p:cNvSpPr>
            <a:spLocks noGrp="1"/>
          </p:cNvSpPr>
          <p:nvPr>
            <p:ph type="subTitle" idx="1"/>
          </p:nvPr>
        </p:nvSpPr>
        <p:spPr>
          <a:xfrm>
            <a:off x="1524000" y="683173"/>
            <a:ext cx="9144000" cy="4355755"/>
          </a:xfrm>
        </p:spPr>
        <p:txBody>
          <a:bodyPr>
            <a:normAutofit lnSpcReduction="10000"/>
          </a:bodyPr>
          <a:lstStyle/>
          <a:p>
            <a:pPr algn="r" rtl="1">
              <a:lnSpc>
                <a:spcPct val="150000"/>
              </a:lnSpc>
            </a:pPr>
            <a:r>
              <a:rPr lang="ar-EG" dirty="0">
                <a:latin typeface="Aharoni" panose="02010803020104030203" pitchFamily="2" charset="-79"/>
                <a:cs typeface="+mj-cs"/>
              </a:rPr>
              <a:t>تخيّل أنك أنشأت موقعًا إلكترونيًا مخصصًا للتواصل بين أصدقائك، وقررت أن تسمح برفع الصور بصيغتين فقط، وهما </a:t>
            </a:r>
            <a:r>
              <a:rPr lang="ar-EG" b="1" dirty="0">
                <a:latin typeface="Aharoni" panose="02010803020104030203" pitchFamily="2" charset="-79"/>
                <a:cs typeface="+mj-cs"/>
              </a:rPr>
              <a:t>.</a:t>
            </a:r>
            <a:r>
              <a:rPr lang="en-US" b="1" dirty="0">
                <a:latin typeface="Aharoni" panose="02010803020104030203" pitchFamily="2" charset="-79"/>
                <a:cs typeface="+mj-cs"/>
              </a:rPr>
              <a:t>JPG</a:t>
            </a:r>
            <a:r>
              <a:rPr lang="en-US" dirty="0">
                <a:latin typeface="Aharoni" panose="02010803020104030203" pitchFamily="2" charset="-79"/>
                <a:cs typeface="+mj-cs"/>
              </a:rPr>
              <a:t> </a:t>
            </a:r>
            <a:r>
              <a:rPr lang="ar-EG" b="1" dirty="0">
                <a:latin typeface="Aharoni" panose="02010803020104030203" pitchFamily="2" charset="-79"/>
                <a:cs typeface="+mj-cs"/>
              </a:rPr>
              <a:t>.</a:t>
            </a:r>
            <a:r>
              <a:rPr lang="en-US" b="1" dirty="0">
                <a:latin typeface="Aharoni" panose="02010803020104030203" pitchFamily="2" charset="-79"/>
                <a:cs typeface="+mj-cs"/>
              </a:rPr>
              <a:t> PNG </a:t>
            </a:r>
            <a:r>
              <a:rPr lang="en-US" dirty="0">
                <a:latin typeface="Aharoni" panose="02010803020104030203" pitchFamily="2" charset="-79"/>
                <a:cs typeface="+mj-cs"/>
              </a:rPr>
              <a:t>and</a:t>
            </a:r>
            <a:r>
              <a:rPr lang="en-US" b="1" dirty="0">
                <a:latin typeface="Aharoni" panose="02010803020104030203" pitchFamily="2" charset="-79"/>
                <a:cs typeface="+mj-cs"/>
              </a:rPr>
              <a:t> </a:t>
            </a:r>
            <a:r>
              <a:rPr lang="ar-EG" dirty="0">
                <a:latin typeface="Aharoni" panose="02010803020104030203" pitchFamily="2" charset="-79"/>
                <a:cs typeface="+mj-cs"/>
              </a:rPr>
              <a:t>معتقدًا أن ذلك كافٍ لحماية الموقع. لكن المهاجم يفكر بطريقة مختلفة فهو يحاول رفع ملف </a:t>
            </a:r>
            <a:r>
              <a:rPr lang="en-US" b="1" dirty="0">
                <a:latin typeface="Aharoni" panose="02010803020104030203" pitchFamily="2" charset="-79"/>
                <a:cs typeface="+mj-cs"/>
              </a:rPr>
              <a:t>evil.php</a:t>
            </a:r>
            <a:r>
              <a:rPr lang="ar-EG" b="1" dirty="0">
                <a:latin typeface="Aharoni" panose="02010803020104030203" pitchFamily="2" charset="-79"/>
                <a:cs typeface="+mj-cs"/>
              </a:rPr>
              <a:t> او اي نوع اخر</a:t>
            </a:r>
            <a:r>
              <a:rPr lang="en-US" b="1" dirty="0">
                <a:latin typeface="Aharoni" panose="02010803020104030203" pitchFamily="2" charset="-79"/>
                <a:cs typeface="+mj-cs"/>
              </a:rPr>
              <a:t> </a:t>
            </a:r>
            <a:r>
              <a:rPr lang="ar-EG" dirty="0">
                <a:latin typeface="Aharoni" panose="02010803020104030203" pitchFamily="2" charset="-79"/>
                <a:cs typeface="+mj-cs"/>
              </a:rPr>
              <a:t>يحتوي على سكربت خبيث بدلًا من صورة عادية. إذا نجح الموقع في قبول هذا الملف وتنفيذه على الخادم، فسيبدأ السكربت بالعمل فورًا، مما يمنح المهاجم القدرة على تنفيذ أوامر أو التحكم في الموقع. عند هذه النقطة تكون قد وقعت في </a:t>
            </a:r>
            <a:r>
              <a:rPr lang="ar-EG" b="1" dirty="0">
                <a:solidFill>
                  <a:srgbClr val="0070C0"/>
                </a:solidFill>
                <a:latin typeface="Aharoni" panose="02010803020104030203" pitchFamily="2" charset="-79"/>
                <a:cs typeface="+mj-cs"/>
              </a:rPr>
              <a:t>ثغرة رفع الملفات </a:t>
            </a:r>
            <a:r>
              <a:rPr lang="ar-EG" b="1" dirty="0">
                <a:latin typeface="Aharoni" panose="02010803020104030203" pitchFamily="2" charset="-79"/>
                <a:cs typeface="+mj-cs"/>
              </a:rPr>
              <a:t>(</a:t>
            </a:r>
            <a:r>
              <a:rPr lang="en-US" b="1" dirty="0">
                <a:solidFill>
                  <a:srgbClr val="FF0000"/>
                </a:solidFill>
                <a:latin typeface="Aharoni" panose="02010803020104030203" pitchFamily="2" charset="-79"/>
                <a:cs typeface="+mj-cs"/>
              </a:rPr>
              <a:t>File Upload Vulnerability</a:t>
            </a:r>
            <a:r>
              <a:rPr lang="ar-EG" b="1" dirty="0">
                <a:latin typeface="Aharoni" panose="02010803020104030203" pitchFamily="2" charset="-79"/>
                <a:cs typeface="+mj-cs"/>
              </a:rPr>
              <a:t>) </a:t>
            </a:r>
            <a:r>
              <a:rPr lang="en-US" dirty="0">
                <a:latin typeface="Aharoni" panose="02010803020104030203" pitchFamily="2" charset="-79"/>
                <a:cs typeface="+mj-cs"/>
              </a:rPr>
              <a:t>، </a:t>
            </a:r>
            <a:r>
              <a:rPr lang="ar-EG" dirty="0">
                <a:latin typeface="Aharoni" panose="02010803020104030203" pitchFamily="2" charset="-79"/>
                <a:cs typeface="+mj-cs"/>
              </a:rPr>
              <a:t>وهي من الثغرات الخطيرة التي تنتج عن عدم التحقق الصحيح من نوع الملف ومحتواه قبل رفعه إلى الخادم.</a:t>
            </a:r>
          </a:p>
          <a:p>
            <a:pPr algn="r" rtl="1">
              <a:lnSpc>
                <a:spcPct val="150000"/>
              </a:lnSpc>
            </a:pPr>
            <a:endParaRPr lang="ar-EG" dirty="0">
              <a:latin typeface="Aharoni" panose="02010803020104030203" pitchFamily="2" charset="-79"/>
              <a:cs typeface="+mj-cs"/>
            </a:endParaRPr>
          </a:p>
        </p:txBody>
      </p:sp>
      <p:pic>
        <p:nvPicPr>
          <p:cNvPr id="1030" name="Picture 6" descr="File Upload Vulnerabilities">
            <a:extLst>
              <a:ext uri="{FF2B5EF4-FFF2-40B4-BE49-F238E27FC236}">
                <a16:creationId xmlns:a16="http://schemas.microsoft.com/office/drawing/2014/main" id="{04EB94A7-A7DA-7397-580F-4ABA76E9CABF}"/>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a:stretch>
            <a:fillRect/>
          </a:stretch>
        </p:blipFill>
        <p:spPr bwMode="auto">
          <a:xfrm>
            <a:off x="7430766" y="4815191"/>
            <a:ext cx="3878803" cy="2042809"/>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1032" name="Picture 8" descr="Ehxb | File Upload Vulnerabilities I | by Ehxb | InfoSec Write-ups">
            <a:extLst>
              <a:ext uri="{FF2B5EF4-FFF2-40B4-BE49-F238E27FC236}">
                <a16:creationId xmlns:a16="http://schemas.microsoft.com/office/drawing/2014/main" id="{5C905742-0E46-B4A5-2351-5F7980901397}"/>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0000" b="90000" l="10000" r="90000">
                        <a14:foregroundMark x1="74779" y1="63496" x2="74779" y2="63496"/>
                        <a14:foregroundMark x1="71239" y1="57743" x2="71239" y2="57743"/>
                        <a14:foregroundMark x1="70501" y1="64159" x2="70501" y2="64159"/>
                        <a14:foregroundMark x1="18879" y1="18584" x2="18879" y2="18584"/>
                        <a14:foregroundMark x1="25221" y1="20575" x2="25221" y2="20575"/>
                        <a14:foregroundMark x1="27139" y1="19248" x2="27139" y2="19248"/>
                        <a14:foregroundMark x1="34661" y1="20575" x2="34661" y2="20575"/>
                        <a14:foregroundMark x1="46460" y1="20575" x2="46460" y2="20575"/>
                        <a14:foregroundMark x1="50000" y1="20575" x2="50000" y2="20575"/>
                        <a14:foregroundMark x1="56342" y1="18142" x2="56342" y2="18142"/>
                        <a14:foregroundMark x1="64897" y1="18584" x2="64897" y2="18584"/>
                        <a14:foregroundMark x1="69322" y1="19248" x2="69322" y2="19248"/>
                        <a14:foregroundMark x1="78319" y1="22345" x2="78319" y2="22345"/>
                        <a14:foregroundMark x1="84218" y1="34735" x2="84218" y2="34735"/>
                        <a14:foregroundMark x1="80236" y1="35398" x2="80236" y2="35398"/>
                        <a14:foregroundMark x1="77139" y1="33628" x2="77139" y2="33628"/>
                        <a14:foregroundMark x1="75516" y1="33628" x2="75516" y2="33628"/>
                        <a14:foregroundMark x1="71976" y1="33628" x2="71976" y2="33628"/>
                        <a14:foregroundMark x1="67699" y1="33628" x2="67699" y2="33628"/>
                        <a14:foregroundMark x1="63422" y1="36062" x2="63422" y2="36062"/>
                        <a14:foregroundMark x1="59440" y1="34735" x2="59440" y2="34735"/>
                        <a14:foregroundMark x1="56342" y1="34735" x2="56342" y2="34735"/>
                        <a14:foregroundMark x1="50000" y1="34292" x2="50000" y2="34292"/>
                        <a14:foregroundMark x1="44543" y1="34735" x2="44543" y2="34735"/>
                        <a14:foregroundMark x1="38938" y1="35398" x2="38938" y2="35398"/>
                        <a14:foregroundMark x1="35841" y1="33628" x2="35841" y2="33628"/>
                        <a14:foregroundMark x1="32743" y1="34292" x2="32743" y2="34292"/>
                        <a14:foregroundMark x1="25221" y1="33628" x2="25221" y2="33628"/>
                        <a14:foregroundMark x1="20501" y1="32965" x2="20501" y2="32965"/>
                        <a14:foregroundMark x1="19764" y1="32965" x2="19764" y2="32965"/>
                        <a14:foregroundMark x1="17404" y1="32965" x2="17404" y2="32965"/>
                        <a14:foregroundMark x1="15044" y1="32965" x2="15044" y2="32965"/>
                      </a14:backgroundRemoval>
                    </a14:imgEffect>
                  </a14:imgLayer>
                </a14:imgProps>
              </a:ext>
              <a:ext uri="{28A0092B-C50C-407E-A947-70E740481C1C}">
                <a14:useLocalDpi xmlns:a14="http://schemas.microsoft.com/office/drawing/2010/main" val="0"/>
              </a:ext>
            </a:extLst>
          </a:blip>
          <a:srcRect/>
          <a:stretch>
            <a:fillRect/>
          </a:stretch>
        </p:blipFill>
        <p:spPr bwMode="auto">
          <a:xfrm>
            <a:off x="4201892" y="4812952"/>
            <a:ext cx="3228874" cy="2042810"/>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1036" name="Picture 12" descr="File Upload Vulnerabilities | Intigriti">
            <a:extLst>
              <a:ext uri="{FF2B5EF4-FFF2-40B4-BE49-F238E27FC236}">
                <a16:creationId xmlns:a16="http://schemas.microsoft.com/office/drawing/2014/main" id="{DE0B119F-3663-369A-4F1C-CD5400DC9EC1}"/>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9524" b="89683" l="6061" r="89773">
                        <a14:foregroundMark x1="31629" y1="68519" x2="31629" y2="68519"/>
                        <a14:foregroundMark x1="34848" y1="67725" x2="37121" y2="67196"/>
                        <a14:foregroundMark x1="39962" y1="65873" x2="39962" y2="65873"/>
                        <a14:foregroundMark x1="39962" y1="65873" x2="39962" y2="65873"/>
                        <a14:foregroundMark x1="31629" y1="65873" x2="30114" y2="65873"/>
                        <a14:foregroundMark x1="28788" y1="65873" x2="28788" y2="65873"/>
                        <a14:foregroundMark x1="28788" y1="65873" x2="32008" y2="67196"/>
                        <a14:foregroundMark x1="35227" y1="68519" x2="18561" y2="70899"/>
                        <a14:foregroundMark x1="12689" y1="71429" x2="12689" y2="71429"/>
                        <a14:foregroundMark x1="39015" y1="72222" x2="41098" y2="72222"/>
                        <a14:foregroundMark x1="41098" y1="72222" x2="37500" y2="72222"/>
                        <a14:foregroundMark x1="35985" y1="69048" x2="37121" y2="64550"/>
                        <a14:foregroundMark x1="41098" y1="67725" x2="45076" y2="75132"/>
                        <a14:foregroundMark x1="45076" y1="75132" x2="43750" y2="73280"/>
                        <a14:foregroundMark x1="43371" y1="71429" x2="43371" y2="71429"/>
                        <a14:foregroundMark x1="35227" y1="74074" x2="35227" y2="74074"/>
                        <a14:foregroundMark x1="30492" y1="55291" x2="30114" y2="50265"/>
                        <a14:foregroundMark x1="30114" y1="42328" x2="30114" y2="42328"/>
                        <a14:foregroundMark x1="28030" y1="24339" x2="27273" y2="14815"/>
                        <a14:foregroundMark x1="27273" y1="12963" x2="27273" y2="12963"/>
                        <a14:foregroundMark x1="27273" y1="12434" x2="27273" y2="12434"/>
                        <a14:foregroundMark x1="28409" y1="12434" x2="28409" y2="12434"/>
                        <a14:foregroundMark x1="30114" y1="12434" x2="27273" y2="12434"/>
                        <a14:foregroundMark x1="22538" y1="12434" x2="22538" y2="12434"/>
                        <a14:foregroundMark x1="21023" y1="12434" x2="21023" y2="12434"/>
                        <a14:foregroundMark x1="20265" y1="12434" x2="20265" y2="12434"/>
                        <a14:foregroundMark x1="17424" y1="12434" x2="17424" y2="12434"/>
                        <a14:foregroundMark x1="15530" y1="12434" x2="14394" y2="12434"/>
                        <a14:foregroundMark x1="13068" y1="12434" x2="13068" y2="12434"/>
                        <a14:foregroundMark x1="10795" y1="12963" x2="10795" y2="12963"/>
                        <a14:foregroundMark x1="9659" y1="12963" x2="9659" y2="12963"/>
                        <a14:foregroundMark x1="11174" y1="12434" x2="11174" y2="12434"/>
                        <a14:foregroundMark x1="10795" y1="12434" x2="10795" y2="12434"/>
                        <a14:foregroundMark x1="10795" y1="11905" x2="10795" y2="11905"/>
                        <a14:foregroundMark x1="20644" y1="11111" x2="22159" y2="11905"/>
                        <a14:foregroundMark x1="32008" y1="12963" x2="35227" y2="14286"/>
                        <a14:foregroundMark x1="37500" y1="16138" x2="54735" y2="38624"/>
                        <a14:foregroundMark x1="59091" y1="46561" x2="59091" y2="46561"/>
                        <a14:foregroundMark x1="58712" y1="50265" x2="58712" y2="54762"/>
                        <a14:foregroundMark x1="82008" y1="75926" x2="82008" y2="75926"/>
                        <a14:foregroundMark x1="82765" y1="75132" x2="82765" y2="75132"/>
                        <a14:foregroundMark x1="83523" y1="75132" x2="83523" y2="75132"/>
                        <a14:foregroundMark x1="83523" y1="75132" x2="83523" y2="75132"/>
                        <a14:foregroundMark x1="83523" y1="74074" x2="78788" y2="68519"/>
                        <a14:foregroundMark x1="77652" y1="66667" x2="77652" y2="66667"/>
                        <a14:foregroundMark x1="89773" y1="82011" x2="89773" y2="82011"/>
                        <a14:foregroundMark x1="89773" y1="77778" x2="89773" y2="77778"/>
                        <a14:foregroundMark x1="89773" y1="76455" x2="89773" y2="76455"/>
                        <a14:foregroundMark x1="87121" y1="70370" x2="87121" y2="70370"/>
                        <a14:foregroundMark x1="85417" y1="67725" x2="85417" y2="67725"/>
                        <a14:foregroundMark x1="89394" y1="72751" x2="89394" y2="72751"/>
                        <a14:foregroundMark x1="89773" y1="72751" x2="89773" y2="72751"/>
                        <a14:foregroundMark x1="88258" y1="69048" x2="87879" y2="70899"/>
                        <a14:foregroundMark x1="89773" y1="81481" x2="83523" y2="82011"/>
                        <a14:foregroundMark x1="77652" y1="76455" x2="77652" y2="76455"/>
                        <a14:foregroundMark x1="75189" y1="76455" x2="75189" y2="76455"/>
                        <a14:foregroundMark x1="73295" y1="74074" x2="73295" y2="74074"/>
                        <a14:foregroundMark x1="71780" y1="72751" x2="71780" y2="72751"/>
                        <a14:foregroundMark x1="70076" y1="72222" x2="70076" y2="72222"/>
                        <a14:foregroundMark x1="68939" y1="71429" x2="68939" y2="71429"/>
                        <a14:foregroundMark x1="68182" y1="70370" x2="68182" y2="70370"/>
                        <a14:foregroundMark x1="67045" y1="69577" x2="67045" y2="69577"/>
                        <a14:foregroundMark x1="65530" y1="69048" x2="65530" y2="69048"/>
                        <a14:foregroundMark x1="64205" y1="67725" x2="64205" y2="67725"/>
                        <a14:foregroundMark x1="62311" y1="66667" x2="59848" y2="64550"/>
                        <a14:foregroundMark x1="58712" y1="64021" x2="58712" y2="64021"/>
                        <a14:foregroundMark x1="57955" y1="63492" x2="57955" y2="63492"/>
                        <a14:foregroundMark x1="57197" y1="60847" x2="58333" y2="60847"/>
                        <a14:foregroundMark x1="61174" y1="62698" x2="61174" y2="62698"/>
                        <a14:foregroundMark x1="63826" y1="66667" x2="65530" y2="67725"/>
                        <a14:foregroundMark x1="76136" y1="77778" x2="54735" y2="59788"/>
                        <a14:foregroundMark x1="78409" y1="76984" x2="63447" y2="67196"/>
                        <a14:foregroundMark x1="63447" y1="67196" x2="58712" y2="60847"/>
                        <a14:foregroundMark x1="6061" y1="14815" x2="6061" y2="14815"/>
                        <a14:foregroundMark x1="6061" y1="14286" x2="6061" y2="14286"/>
                        <a14:foregroundMark x1="7576" y1="16931" x2="7576" y2="16931"/>
                        <a14:foregroundMark x1="7576" y1="17460" x2="7576" y2="17460"/>
                        <a14:foregroundMark x1="7955" y1="20635" x2="7955" y2="20635"/>
                        <a14:foregroundMark x1="39962" y1="75926" x2="39962" y2="75926"/>
                        <a14:foregroundMark x1="39962" y1="75132" x2="43750" y2="70899"/>
                        <a14:foregroundMark x1="44129" y1="70899" x2="44129" y2="70899"/>
                        <a14:foregroundMark x1="39015" y1="68519" x2="39015" y2="68519"/>
                        <a14:foregroundMark x1="54356" y1="68519" x2="54356" y2="68519"/>
                      </a14:backgroundRemoval>
                    </a14:imgEffect>
                  </a14:imgLayer>
                </a14:imgProps>
              </a:ext>
              <a:ext uri="{28A0092B-C50C-407E-A947-70E740481C1C}">
                <a14:useLocalDpi xmlns:a14="http://schemas.microsoft.com/office/drawing/2010/main" val="0"/>
              </a:ext>
            </a:extLst>
          </a:blip>
          <a:srcRect/>
          <a:stretch>
            <a:fillRect/>
          </a:stretch>
        </p:blipFill>
        <p:spPr bwMode="auto">
          <a:xfrm>
            <a:off x="973018" y="4812952"/>
            <a:ext cx="3228874" cy="2042810"/>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2274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BBBDF-E204-BAA2-06A0-2D2BC89019CB}"/>
              </a:ext>
            </a:extLst>
          </p:cNvPr>
          <p:cNvSpPr>
            <a:spLocks noGrp="1"/>
          </p:cNvSpPr>
          <p:nvPr>
            <p:ph type="ctrTitle"/>
          </p:nvPr>
        </p:nvSpPr>
        <p:spPr>
          <a:xfrm>
            <a:off x="1595269" y="0"/>
            <a:ext cx="9001462" cy="683055"/>
          </a:xfrm>
        </p:spPr>
        <p:txBody>
          <a:bodyPr>
            <a:normAutofit fontScale="90000"/>
          </a:bodyPr>
          <a:lstStyle/>
          <a:p>
            <a:r>
              <a:rPr lang="ar-EG" u="sng" dirty="0">
                <a:solidFill>
                  <a:schemeClr val="accent1">
                    <a:lumMod val="40000"/>
                    <a:lumOff val="60000"/>
                  </a:schemeClr>
                </a:solidFill>
              </a:rPr>
              <a:t>أسباب حدوث ثغرة رفع الملفات</a:t>
            </a:r>
            <a:endParaRPr lang="en-US" u="sng" dirty="0">
              <a:solidFill>
                <a:schemeClr val="accent1">
                  <a:lumMod val="40000"/>
                  <a:lumOff val="60000"/>
                </a:schemeClr>
              </a:solidFill>
            </a:endParaRPr>
          </a:p>
        </p:txBody>
      </p:sp>
      <p:sp>
        <p:nvSpPr>
          <p:cNvPr id="5" name="Rectangle 2">
            <a:extLst>
              <a:ext uri="{FF2B5EF4-FFF2-40B4-BE49-F238E27FC236}">
                <a16:creationId xmlns:a16="http://schemas.microsoft.com/office/drawing/2014/main" id="{592E8C03-5EA3-D550-DDAF-15C21D276436}"/>
              </a:ext>
            </a:extLst>
          </p:cNvPr>
          <p:cNvSpPr>
            <a:spLocks noGrp="1" noChangeArrowheads="1"/>
          </p:cNvSpPr>
          <p:nvPr>
            <p:ph type="subTitle" idx="1"/>
          </p:nvPr>
        </p:nvSpPr>
        <p:spPr bwMode="auto">
          <a:xfrm>
            <a:off x="-482600" y="682862"/>
            <a:ext cx="12674600" cy="4411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r" defTabSz="914400" rtl="1"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ar-SA" altLang="en-US" sz="2000" b="1" i="0" u="none" strike="noStrike" cap="none" normalizeH="0" baseline="0" dirty="0">
                <a:ln>
                  <a:noFill/>
                </a:ln>
                <a:solidFill>
                  <a:schemeClr val="tx1"/>
                </a:solidFill>
                <a:effectLst/>
                <a:latin typeface="Arial" panose="020B0604020202020204" pitchFamily="34" charset="0"/>
                <a:cs typeface="+mj-cs"/>
              </a:rPr>
              <a:t>غياب الفحص</a:t>
            </a:r>
            <a:r>
              <a:rPr kumimoji="0" lang="en-US" altLang="en-US" b="1" i="0" u="none" strike="noStrike" cap="none" normalizeH="0" baseline="0" dirty="0">
                <a:ln>
                  <a:noFill/>
                </a:ln>
                <a:solidFill>
                  <a:schemeClr val="tx1"/>
                </a:solidFill>
                <a:effectLst/>
                <a:latin typeface="Arial" panose="020B0604020202020204" pitchFamily="34" charset="0"/>
                <a:cs typeface="+mj-cs"/>
              </a:rPr>
              <a:t>:</a:t>
            </a:r>
            <a:r>
              <a:rPr kumimoji="0" lang="en-US" altLang="en-US" b="0" i="0" u="none" strike="noStrike" cap="none" normalizeH="0" baseline="0" dirty="0">
                <a:ln>
                  <a:noFill/>
                </a:ln>
                <a:solidFill>
                  <a:schemeClr val="tx1"/>
                </a:solidFill>
                <a:effectLst/>
                <a:latin typeface="Arial" panose="020B0604020202020204" pitchFamily="34" charset="0"/>
                <a:cs typeface="+mj-cs"/>
              </a:rPr>
              <a:t> </a:t>
            </a:r>
            <a:r>
              <a:rPr kumimoji="0" lang="ar-SA" altLang="en-US" b="0" i="0" u="none" strike="noStrike" cap="none" normalizeH="0" baseline="0" dirty="0">
                <a:ln>
                  <a:noFill/>
                </a:ln>
                <a:solidFill>
                  <a:schemeClr val="tx1"/>
                </a:solidFill>
                <a:effectLst/>
                <a:latin typeface="Arial" panose="020B0604020202020204" pitchFamily="34" charset="0"/>
                <a:cs typeface="+mj-cs"/>
              </a:rPr>
              <a:t>الاعتماد على امتداد الملف فقط دون التحقق من محتواه على الخادم</a:t>
            </a:r>
            <a:r>
              <a:rPr kumimoji="0" lang="en-US" altLang="en-US" b="0" i="0" u="none" strike="noStrike" cap="none" normalizeH="0" baseline="0" dirty="0">
                <a:ln>
                  <a:noFill/>
                </a:ln>
                <a:solidFill>
                  <a:schemeClr val="tx1"/>
                </a:solidFill>
                <a:effectLst/>
                <a:latin typeface="Arial" panose="020B0604020202020204" pitchFamily="34" charset="0"/>
                <a:cs typeface="+mj-cs"/>
              </a:rPr>
              <a:t>.</a:t>
            </a:r>
          </a:p>
          <a:p>
            <a:pPr marL="342900" marR="0" lvl="0" indent="-342900" algn="r" defTabSz="914400" rtl="1"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ar-SA" altLang="en-US" b="1" i="0" u="none" strike="noStrike" cap="none" normalizeH="0" baseline="0" dirty="0">
                <a:ln>
                  <a:noFill/>
                </a:ln>
                <a:solidFill>
                  <a:schemeClr val="tx1"/>
                </a:solidFill>
                <a:effectLst/>
                <a:latin typeface="Arial" panose="020B0604020202020204" pitchFamily="34" charset="0"/>
                <a:cs typeface="+mj-cs"/>
              </a:rPr>
              <a:t>فحص غير كافٍ</a:t>
            </a:r>
            <a:r>
              <a:rPr kumimoji="0" lang="en-US" altLang="en-US" b="1" i="0" u="none" strike="noStrike" cap="none" normalizeH="0" baseline="0" dirty="0">
                <a:ln>
                  <a:noFill/>
                </a:ln>
                <a:solidFill>
                  <a:schemeClr val="tx1"/>
                </a:solidFill>
                <a:effectLst/>
                <a:latin typeface="Arial" panose="020B0604020202020204" pitchFamily="34" charset="0"/>
                <a:cs typeface="+mj-cs"/>
              </a:rPr>
              <a:t>:</a:t>
            </a:r>
            <a:r>
              <a:rPr kumimoji="0" lang="en-US" altLang="en-US" b="0" i="0" u="none" strike="noStrike" cap="none" normalizeH="0" baseline="0" dirty="0">
                <a:ln>
                  <a:noFill/>
                </a:ln>
                <a:solidFill>
                  <a:schemeClr val="tx1"/>
                </a:solidFill>
                <a:effectLst/>
                <a:latin typeface="Arial" panose="020B0604020202020204" pitchFamily="34" charset="0"/>
                <a:cs typeface="+mj-cs"/>
              </a:rPr>
              <a:t> </a:t>
            </a:r>
            <a:r>
              <a:rPr kumimoji="0" lang="ar-SA" altLang="en-US" b="0" i="0" u="none" strike="noStrike" cap="none" normalizeH="0" baseline="0" dirty="0">
                <a:ln>
                  <a:noFill/>
                </a:ln>
                <a:solidFill>
                  <a:schemeClr val="tx1"/>
                </a:solidFill>
                <a:effectLst/>
                <a:latin typeface="Arial" panose="020B0604020202020204" pitchFamily="34" charset="0"/>
                <a:cs typeface="+mj-cs"/>
              </a:rPr>
              <a:t>استخدام قائمة لحظر </a:t>
            </a:r>
            <a:r>
              <a:rPr kumimoji="0" lang="en-US" altLang="en-US" b="0" i="0" u="none" strike="noStrike" cap="none" normalizeH="0" baseline="0" dirty="0">
                <a:ln>
                  <a:noFill/>
                </a:ln>
                <a:solidFill>
                  <a:schemeClr val="tx1"/>
                </a:solidFill>
                <a:effectLst/>
                <a:latin typeface="Arial" panose="020B0604020202020204" pitchFamily="34" charset="0"/>
                <a:cs typeface="+mj-cs"/>
              </a:rPr>
              <a:t>(</a:t>
            </a:r>
            <a:r>
              <a:rPr kumimoji="0" lang="en-US" altLang="en-US" b="0" i="0" u="none" strike="noStrike" cap="none" normalizeH="0" baseline="0" dirty="0">
                <a:ln>
                  <a:noFill/>
                </a:ln>
                <a:solidFill>
                  <a:srgbClr val="FF0000"/>
                </a:solidFill>
                <a:effectLst/>
                <a:latin typeface="+mj-lt"/>
                <a:cs typeface="+mj-cs"/>
              </a:rPr>
              <a:t>Blacklisting</a:t>
            </a:r>
            <a:r>
              <a:rPr kumimoji="0" lang="en-US" altLang="en-US" b="0" i="0" u="none" strike="noStrike" cap="none" normalizeH="0" baseline="0" dirty="0">
                <a:ln>
                  <a:noFill/>
                </a:ln>
                <a:solidFill>
                  <a:schemeClr val="tx1"/>
                </a:solidFill>
                <a:effectLst/>
                <a:latin typeface="+mj-lt"/>
                <a:cs typeface="+mj-cs"/>
              </a:rPr>
              <a:t>) </a:t>
            </a:r>
            <a:r>
              <a:rPr kumimoji="0" lang="ar-SA" altLang="en-US" b="0" i="0" u="none" strike="noStrike" cap="none" normalizeH="0" baseline="0" dirty="0">
                <a:ln>
                  <a:noFill/>
                </a:ln>
                <a:solidFill>
                  <a:schemeClr val="tx1"/>
                </a:solidFill>
                <a:effectLst/>
                <a:latin typeface="Arial" panose="020B0604020202020204" pitchFamily="34" charset="0"/>
                <a:cs typeface="+mj-cs"/>
              </a:rPr>
              <a:t>بدلًا من السماح بالأنواع الموثوقة فقط</a:t>
            </a:r>
            <a:r>
              <a:rPr kumimoji="0" lang="ar-EG" altLang="en-US" b="0" i="0" u="none" strike="noStrike" cap="none" normalizeH="0" baseline="0" dirty="0">
                <a:ln>
                  <a:noFill/>
                </a:ln>
                <a:solidFill>
                  <a:schemeClr val="tx1"/>
                </a:solidFill>
                <a:effectLst/>
                <a:latin typeface="Arial" panose="020B0604020202020204" pitchFamily="34" charset="0"/>
                <a:cs typeface="+mj-cs"/>
              </a:rPr>
              <a:t> </a:t>
            </a:r>
            <a:r>
              <a:rPr kumimoji="0" lang="en-US" altLang="en-US" b="0" i="0" u="none" strike="noStrike" cap="none" normalizeH="0" baseline="0" dirty="0">
                <a:ln>
                  <a:noFill/>
                </a:ln>
                <a:solidFill>
                  <a:srgbClr val="FFC000"/>
                </a:solidFill>
                <a:effectLst/>
                <a:latin typeface="Arial" panose="020B0604020202020204" pitchFamily="34" charset="0"/>
                <a:cs typeface="+mj-cs"/>
              </a:rPr>
              <a:t> </a:t>
            </a:r>
            <a:r>
              <a:rPr kumimoji="0" lang="en-US" altLang="en-US" b="0" i="0" u="none" strike="noStrike" cap="none" normalizeH="0" baseline="0" dirty="0">
                <a:ln>
                  <a:noFill/>
                </a:ln>
                <a:solidFill>
                  <a:srgbClr val="FFC000"/>
                </a:solidFill>
                <a:effectLst/>
                <a:latin typeface="+mj-lt"/>
                <a:cs typeface="+mj-cs"/>
              </a:rPr>
              <a:t>(Whitelisting</a:t>
            </a:r>
            <a:r>
              <a:rPr kumimoji="0" lang="en-US" altLang="en-US" b="0" i="0" u="none" strike="noStrike" cap="none" normalizeH="0" baseline="0" dirty="0">
                <a:ln>
                  <a:noFill/>
                </a:ln>
                <a:solidFill>
                  <a:srgbClr val="FFC000"/>
                </a:solidFill>
                <a:effectLst/>
                <a:latin typeface="Arial" panose="020B0604020202020204" pitchFamily="34" charset="0"/>
                <a:cs typeface="+mj-cs"/>
              </a:rPr>
              <a:t>).</a:t>
            </a:r>
            <a:r>
              <a:rPr kumimoji="0" lang="ar-EG" altLang="en-US" b="0" i="0" u="none" strike="noStrike" cap="none" normalizeH="0" baseline="0" dirty="0">
                <a:ln>
                  <a:noFill/>
                </a:ln>
                <a:solidFill>
                  <a:srgbClr val="FFC000"/>
                </a:solidFill>
                <a:effectLst/>
                <a:latin typeface="Arial" panose="020B0604020202020204" pitchFamily="34" charset="0"/>
                <a:cs typeface="+mj-cs"/>
              </a:rPr>
              <a:t> </a:t>
            </a:r>
            <a:endParaRPr kumimoji="0" lang="en-US" altLang="en-US" b="0" i="0" u="none" strike="noStrike" cap="none" normalizeH="0" baseline="0" dirty="0">
              <a:ln>
                <a:noFill/>
              </a:ln>
              <a:solidFill>
                <a:srgbClr val="FFC000"/>
              </a:solidFill>
              <a:effectLst/>
              <a:latin typeface="Arial" panose="020B0604020202020204" pitchFamily="34" charset="0"/>
              <a:cs typeface="+mj-cs"/>
            </a:endParaRPr>
          </a:p>
          <a:p>
            <a:pPr marL="342900" marR="0" lvl="0" indent="-342900" algn="r" defTabSz="914400" rtl="1"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ar-SA" altLang="en-US" b="1" i="0" u="none" strike="noStrike" cap="none" normalizeH="0" baseline="0" dirty="0">
                <a:ln>
                  <a:noFill/>
                </a:ln>
                <a:solidFill>
                  <a:schemeClr val="tx1"/>
                </a:solidFill>
                <a:effectLst/>
                <a:latin typeface="Arial" panose="020B0604020202020204" pitchFamily="34" charset="0"/>
                <a:cs typeface="+mj-cs"/>
              </a:rPr>
              <a:t>تخزين غير آمن</a:t>
            </a:r>
            <a:r>
              <a:rPr kumimoji="0" lang="en-US" altLang="en-US" sz="2000" b="1" i="0" u="none" strike="noStrike" cap="none" normalizeH="0" baseline="0" dirty="0">
                <a:ln>
                  <a:noFill/>
                </a:ln>
                <a:solidFill>
                  <a:schemeClr val="tx1"/>
                </a:solidFill>
                <a:effectLst/>
                <a:latin typeface="Arial" panose="020B0604020202020204" pitchFamily="34" charset="0"/>
                <a:cs typeface="+mj-cs"/>
              </a:rPr>
              <a:t>:</a:t>
            </a:r>
            <a:r>
              <a:rPr kumimoji="0" lang="en-US" altLang="en-US" sz="2000" b="0" i="0" u="none" strike="noStrike" cap="none" normalizeH="0" baseline="0" dirty="0">
                <a:ln>
                  <a:noFill/>
                </a:ln>
                <a:solidFill>
                  <a:schemeClr val="tx1"/>
                </a:solidFill>
                <a:effectLst/>
                <a:latin typeface="Arial" panose="020B0604020202020204" pitchFamily="34" charset="0"/>
                <a:cs typeface="+mj-cs"/>
              </a:rPr>
              <a:t> </a:t>
            </a:r>
            <a:r>
              <a:rPr kumimoji="0" lang="ar-SA" altLang="en-US" b="0" i="0" u="none" strike="noStrike" cap="none" normalizeH="0" baseline="0" dirty="0">
                <a:ln>
                  <a:noFill/>
                </a:ln>
                <a:solidFill>
                  <a:schemeClr val="tx1"/>
                </a:solidFill>
                <a:effectLst/>
                <a:latin typeface="Arial" panose="020B0604020202020204" pitchFamily="34" charset="0"/>
                <a:cs typeface="+mj-cs"/>
              </a:rPr>
              <a:t>حفظ الملفات في مجلدات يمكن الوصول إليها مباشرة، مما قد يسمح بتنفيذ الملفات الخبيثة</a:t>
            </a:r>
            <a:r>
              <a:rPr kumimoji="0" lang="en-US" altLang="en-US" b="0" i="0" u="none" strike="noStrike" cap="none" normalizeH="0" baseline="0" dirty="0">
                <a:ln>
                  <a:noFill/>
                </a:ln>
                <a:solidFill>
                  <a:schemeClr val="tx1"/>
                </a:solidFill>
                <a:effectLst/>
                <a:latin typeface="Arial" panose="020B0604020202020204" pitchFamily="34" charset="0"/>
                <a:cs typeface="+mj-cs"/>
              </a:rPr>
              <a:t>. </a:t>
            </a:r>
            <a:endParaRPr kumimoji="0" lang="ar-EG" altLang="en-US" b="0" i="0" u="none" strike="noStrike" cap="none" normalizeH="0" baseline="0" dirty="0">
              <a:ln>
                <a:noFill/>
              </a:ln>
              <a:solidFill>
                <a:schemeClr val="tx1"/>
              </a:solidFill>
              <a:effectLst/>
              <a:latin typeface="Arial" panose="020B0604020202020204" pitchFamily="34" charset="0"/>
              <a:cs typeface="+mj-cs"/>
            </a:endParaRPr>
          </a:p>
          <a:p>
            <a:pPr marL="342900" marR="0" lvl="0" indent="-342900" algn="r" defTabSz="914400" rtl="1"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ar-EG" altLang="en-US" b="1" i="0" u="none" strike="noStrike" cap="none" normalizeH="0" baseline="0" dirty="0">
                <a:ln>
                  <a:noFill/>
                </a:ln>
                <a:solidFill>
                  <a:schemeClr val="tx1"/>
                </a:solidFill>
                <a:effectLst/>
                <a:latin typeface="Arial" panose="020B0604020202020204" pitchFamily="34" charset="0"/>
                <a:cs typeface="+mj-cs"/>
              </a:rPr>
              <a:t>صلاحيات خاطئة</a:t>
            </a:r>
            <a:r>
              <a:rPr kumimoji="0" lang="ar-EG" altLang="en-US" b="0" i="0" u="none" strike="noStrike" cap="none" normalizeH="0" baseline="0" dirty="0">
                <a:ln>
                  <a:noFill/>
                </a:ln>
                <a:solidFill>
                  <a:schemeClr val="tx1"/>
                </a:solidFill>
                <a:effectLst/>
                <a:latin typeface="Arial" panose="020B0604020202020204" pitchFamily="34" charset="0"/>
                <a:cs typeface="+mj-cs"/>
              </a:rPr>
              <a:t>: منح الملفات أو المجلدات صلاحيات تنفيذ مرتفعة </a:t>
            </a:r>
            <a:r>
              <a:rPr kumimoji="0" lang="en-US" altLang="en-US" b="0" i="0" u="none" strike="noStrike" cap="none" normalizeH="0" baseline="0" dirty="0">
                <a:ln>
                  <a:noFill/>
                </a:ln>
                <a:solidFill>
                  <a:schemeClr val="tx1"/>
                </a:solidFill>
                <a:effectLst/>
                <a:latin typeface="Arial" panose="020B0604020202020204" pitchFamily="34" charset="0"/>
                <a:cs typeface="+mj-cs"/>
              </a:rPr>
              <a:t>Execution Permissions)</a:t>
            </a:r>
            <a:r>
              <a:rPr lang="ar-EG" altLang="en-US" dirty="0">
                <a:effectLst/>
                <a:latin typeface="Arial" panose="020B0604020202020204" pitchFamily="34" charset="0"/>
                <a:cs typeface="+mj-cs"/>
              </a:rPr>
              <a:t>) </a:t>
            </a:r>
            <a:r>
              <a:rPr kumimoji="0" lang="ar-EG" altLang="en-US" b="0" i="0" u="none" strike="noStrike" cap="none" normalizeH="0" baseline="0" dirty="0">
                <a:ln>
                  <a:noFill/>
                </a:ln>
                <a:solidFill>
                  <a:schemeClr val="tx1"/>
                </a:solidFill>
                <a:effectLst/>
                <a:latin typeface="Arial" panose="020B0604020202020204" pitchFamily="34" charset="0"/>
                <a:cs typeface="+mj-cs"/>
              </a:rPr>
              <a:t>مما يسمح بتشغيل الملفات الخبيثة.</a:t>
            </a:r>
            <a:endParaRPr lang="ar-EG" altLang="en-US" dirty="0">
              <a:effectLst/>
              <a:latin typeface="Arial" panose="020B0604020202020204" pitchFamily="34" charset="0"/>
              <a:cs typeface="+mj-cs"/>
            </a:endParaRPr>
          </a:p>
          <a:p>
            <a:pPr marR="0" lvl="0" algn="r" defTabSz="914400" rtl="1" eaLnBrk="0" fontAlgn="base" latinLnBrk="0" hangingPunct="0">
              <a:lnSpc>
                <a:spcPct val="200000"/>
              </a:lnSpc>
              <a:spcBef>
                <a:spcPct val="0"/>
              </a:spcBef>
              <a:spcAft>
                <a:spcPct val="0"/>
              </a:spcAft>
              <a:buClrTx/>
              <a:buSzTx/>
              <a:tabLst/>
            </a:pPr>
            <a:endParaRPr kumimoji="0" lang="ar-EG" altLang="en-US" b="0" i="0" u="none" strike="noStrike" cap="none" normalizeH="0" baseline="0" dirty="0">
              <a:ln>
                <a:noFill/>
              </a:ln>
              <a:solidFill>
                <a:schemeClr val="tx1"/>
              </a:solidFill>
              <a:effectLst/>
              <a:latin typeface="Arial" panose="020B0604020202020204" pitchFamily="34" charset="0"/>
              <a:cs typeface="+mj-cs"/>
            </a:endParaRPr>
          </a:p>
        </p:txBody>
      </p:sp>
      <p:pic>
        <p:nvPicPr>
          <p:cNvPr id="3076" name="Picture 4" descr="Security Shield Standard Document Checklist Icon Stock Vector (Royalty Free) 2722640101 | Shutterstock">
            <a:extLst>
              <a:ext uri="{FF2B5EF4-FFF2-40B4-BE49-F238E27FC236}">
                <a16:creationId xmlns:a16="http://schemas.microsoft.com/office/drawing/2014/main" id="{5687D17A-F1B6-45D4-3A54-FA72EACC67E4}"/>
              </a:ext>
            </a:extLst>
          </p:cNvPr>
          <p:cNvPicPr>
            <a:picLocks noChangeAspect="1" noChangeArrowheads="1"/>
          </p:cNvPicPr>
          <p:nvPr/>
        </p:nvPicPr>
        <p:blipFill rotWithShape="1">
          <a:blip r:embed="rId2">
            <a:alphaModFix amt="70000"/>
            <a:extLst>
              <a:ext uri="{28A0092B-C50C-407E-A947-70E740481C1C}">
                <a14:useLocalDpi xmlns:a14="http://schemas.microsoft.com/office/drawing/2010/main" val="0"/>
              </a:ext>
            </a:extLst>
          </a:blip>
          <a:srcRect t="-1" b="6191"/>
          <a:stretch/>
        </p:blipFill>
        <p:spPr bwMode="auto">
          <a:xfrm>
            <a:off x="9067800" y="4356100"/>
            <a:ext cx="3124200" cy="25019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3080" name="Picture 8" descr="List of blacklist icon simple vector. Data user 22873181 Vector Art at Vecteezy">
            <a:extLst>
              <a:ext uri="{FF2B5EF4-FFF2-40B4-BE49-F238E27FC236}">
                <a16:creationId xmlns:a16="http://schemas.microsoft.com/office/drawing/2014/main" id="{7A436615-D8DB-E412-99DE-1FBC0354B63E}"/>
              </a:ext>
            </a:extLst>
          </p:cNvPr>
          <p:cNvPicPr>
            <a:picLocks noChangeAspect="1" noChangeArrowheads="1"/>
          </p:cNvPicPr>
          <p:nvPr/>
        </p:nvPicPr>
        <p:blipFill>
          <a:blip r:embed="rId3">
            <a:alphaModFix amt="70000"/>
            <a:extLst>
              <a:ext uri="{28A0092B-C50C-407E-A947-70E740481C1C}">
                <a14:useLocalDpi xmlns:a14="http://schemas.microsoft.com/office/drawing/2010/main" val="0"/>
              </a:ext>
            </a:extLst>
          </a:blip>
          <a:srcRect/>
          <a:stretch>
            <a:fillRect/>
          </a:stretch>
        </p:blipFill>
        <p:spPr bwMode="auto">
          <a:xfrm>
            <a:off x="3073315" y="4156076"/>
            <a:ext cx="2701924" cy="270192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3082" name="Picture 10" descr="File upload vulnerability leading to remote code execution (RCE) filter bypass👾educational overview ⚠️ Follow @zeroday.security A small mistake in server-side code can create serious security risks. This example shows how passing user">
            <a:extLst>
              <a:ext uri="{FF2B5EF4-FFF2-40B4-BE49-F238E27FC236}">
                <a16:creationId xmlns:a16="http://schemas.microsoft.com/office/drawing/2014/main" id="{A83D030A-DC0D-3D80-B1B7-EC6255539C4B}"/>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0000" b="90000" l="10000" r="90000">
                        <a14:foregroundMark x1="32331" y1="63473" x2="37093" y2="64271"/>
                        <a14:foregroundMark x1="35338" y1="71657" x2="35338" y2="71657"/>
                        <a14:foregroundMark x1="39098" y1="71257" x2="39098" y2="71257"/>
                        <a14:foregroundMark x1="41103" y1="71257" x2="41103" y2="71257"/>
                        <a14:foregroundMark x1="42607" y1="70858" x2="42607" y2="70858"/>
                        <a14:foregroundMark x1="43108" y1="70858" x2="43108" y2="70858"/>
                        <a14:foregroundMark x1="45614" y1="70858" x2="45614" y2="70858"/>
                        <a14:foregroundMark x1="47118" y1="70858" x2="47118" y2="70858"/>
                        <a14:foregroundMark x1="48622" y1="70858" x2="48622" y2="70858"/>
                        <a14:foregroundMark x1="49123" y1="70858" x2="49123" y2="70858"/>
                        <a14:foregroundMark x1="52381" y1="70459" x2="52381" y2="70459"/>
                        <a14:foregroundMark x1="53885" y1="70459" x2="53885" y2="70459"/>
                        <a14:foregroundMark x1="54887" y1="70459" x2="54887" y2="70459"/>
                        <a14:foregroundMark x1="56892" y1="70459" x2="58897" y2="70459"/>
                        <a14:foregroundMark x1="60401" y1="70459" x2="60401" y2="70459"/>
                        <a14:foregroundMark x1="61404" y1="70459" x2="61404" y2="70459"/>
                        <a14:foregroundMark x1="64411" y1="73253" x2="64411" y2="73253"/>
                        <a14:foregroundMark x1="67419" y1="72455" x2="67419" y2="72455"/>
                        <a14:foregroundMark x1="68672" y1="72056" x2="68672" y2="72056"/>
                        <a14:foregroundMark x1="71178" y1="71657" x2="71178" y2="71657"/>
                        <a14:foregroundMark x1="71178" y1="70858" x2="71178" y2="70858"/>
                        <a14:foregroundMark x1="68421" y1="70858" x2="68421" y2="70858"/>
                        <a14:foregroundMark x1="66416" y1="70858" x2="66416" y2="70858"/>
                        <a14:foregroundMark x1="63910" y1="70858" x2="63910" y2="70858"/>
                        <a14:foregroundMark x1="61905" y1="70459" x2="61905" y2="70459"/>
                        <a14:foregroundMark x1="59900" y1="70459" x2="59900" y2="70459"/>
                        <a14:foregroundMark x1="57895" y1="70459" x2="57895" y2="70459"/>
                        <a14:foregroundMark x1="56892" y1="70459" x2="56892" y2="70459"/>
                        <a14:foregroundMark x1="54887" y1="70060" x2="54887" y2="70060"/>
                        <a14:foregroundMark x1="48622" y1="69860" x2="48622" y2="69860"/>
                        <a14:foregroundMark x1="48120" y1="69860" x2="48120" y2="69860"/>
                        <a14:foregroundMark x1="53885" y1="71257" x2="53885" y2="71257"/>
                        <a14:foregroundMark x1="53885" y1="71257" x2="53885" y2="71257"/>
                        <a14:foregroundMark x1="51629" y1="71257" x2="51629" y2="71257"/>
                        <a14:foregroundMark x1="48622" y1="71257" x2="48622" y2="71257"/>
                        <a14:foregroundMark x1="44612" y1="71257" x2="44612" y2="71257"/>
                        <a14:foregroundMark x1="43609" y1="71257" x2="43609" y2="71257"/>
                        <a14:foregroundMark x1="41604" y1="71257" x2="41604" y2="71257"/>
                        <a14:foregroundMark x1="39098" y1="71257" x2="39098" y2="71257"/>
                        <a14:foregroundMark x1="36591" y1="70858" x2="36591" y2="70858"/>
                        <a14:foregroundMark x1="35338" y1="70858" x2="35338" y2="70858"/>
                        <a14:foregroundMark x1="34336" y1="70858" x2="34336" y2="70858"/>
                        <a14:foregroundMark x1="32832" y1="70858" x2="32832" y2="70858"/>
                        <a14:foregroundMark x1="32832" y1="70858" x2="32832" y2="70858"/>
                        <a14:foregroundMark x1="30827" y1="70858" x2="30827" y2="70858"/>
                        <a14:foregroundMark x1="30827" y1="70858" x2="30827" y2="70858"/>
                        <a14:foregroundMark x1="30326" y1="70858" x2="30326" y2="70858"/>
                        <a14:foregroundMark x1="29323" y1="70858" x2="29323" y2="70858"/>
                        <a14:foregroundMark x1="29825" y1="70858" x2="29825" y2="70858"/>
                        <a14:foregroundMark x1="31328" y1="70858" x2="29825" y2="70858"/>
                        <a14:foregroundMark x1="28822" y1="70858" x2="28822" y2="70858"/>
                        <a14:foregroundMark x1="27820" y1="71257" x2="27820" y2="71257"/>
                        <a14:foregroundMark x1="27820" y1="71657" x2="27820" y2="71657"/>
                        <a14:foregroundMark x1="27820" y1="72056" x2="27820" y2="72056"/>
                        <a14:foregroundMark x1="27820" y1="72056" x2="31328" y2="72455"/>
                        <a14:foregroundMark x1="33333" y1="72455" x2="33333" y2="72455"/>
                        <a14:foregroundMark x1="35338" y1="72056" x2="36591" y2="72056"/>
                        <a14:foregroundMark x1="39098" y1="71257" x2="42105" y2="70858"/>
                        <a14:foregroundMark x1="43609" y1="70858" x2="47118" y2="70459"/>
                        <a14:foregroundMark x1="52882" y1="70459" x2="57393" y2="70858"/>
                        <a14:foregroundMark x1="63409" y1="71257" x2="63409" y2="71257"/>
                        <a14:foregroundMark x1="64912" y1="71257" x2="64912" y2="71257"/>
                        <a14:foregroundMark x1="65915" y1="71657" x2="65915" y2="71657"/>
                        <a14:foregroundMark x1="68421" y1="72056" x2="68421" y2="72056"/>
                        <a14:foregroundMark x1="68672" y1="72056" x2="68672" y2="72056"/>
                        <a14:foregroundMark x1="69674" y1="72056" x2="69674" y2="72056"/>
                        <a14:foregroundMark x1="70677" y1="72056" x2="70677" y2="72056"/>
                        <a14:foregroundMark x1="67419" y1="70459" x2="67419" y2="70459"/>
                        <a14:foregroundMark x1="68672" y1="70858" x2="68672" y2="70858"/>
                        <a14:foregroundMark x1="71178" y1="71657" x2="71178" y2="71657"/>
                        <a14:foregroundMark x1="46115" y1="72056" x2="46115" y2="72056"/>
                        <a14:foregroundMark x1="51629" y1="72056" x2="53885" y2="72455"/>
                        <a14:foregroundMark x1="60401" y1="73653" x2="60401" y2="73653"/>
                        <a14:foregroundMark x1="50627" y1="74052" x2="50627" y2="74052"/>
                        <a14:foregroundMark x1="51128" y1="74850" x2="51128" y2="74850"/>
                        <a14:foregroundMark x1="48120" y1="74850" x2="46617" y2="74850"/>
                        <a14:foregroundMark x1="42105" y1="74451" x2="42105" y2="74451"/>
                        <a14:foregroundMark x1="41103" y1="74451" x2="41103" y2="74451"/>
                        <a14:foregroundMark x1="39599" y1="74451" x2="39599" y2="74451"/>
                        <a14:foregroundMark x1="37093" y1="74451" x2="37093" y2="74451"/>
                        <a14:foregroundMark x1="34837" y1="74451" x2="34837" y2="74451"/>
                        <a14:foregroundMark x1="34837" y1="74451" x2="34837" y2="74451"/>
                        <a14:foregroundMark x1="31830" y1="74052" x2="31830" y2="74052"/>
                        <a14:foregroundMark x1="29323" y1="73253" x2="29323" y2="73253"/>
                        <a14:foregroundMark x1="28822" y1="74451" x2="28822" y2="74451"/>
                        <a14:foregroundMark x1="28822" y1="75250" x2="28822" y2="75250"/>
                        <a14:foregroundMark x1="28822" y1="76048" x2="28822" y2="76048"/>
                        <a14:foregroundMark x1="29323" y1="76048" x2="29323" y2="76048"/>
                        <a14:foregroundMark x1="32331" y1="77246" x2="32331" y2="77246"/>
                        <a14:foregroundMark x1="33835" y1="77246" x2="33835" y2="77246"/>
                        <a14:foregroundMark x1="35338" y1="77246" x2="35338" y2="77246"/>
                        <a14:foregroundMark x1="35840" y1="76846" x2="37093" y2="76447"/>
                        <a14:foregroundMark x1="38596" y1="76447" x2="38596" y2="76447"/>
                        <a14:foregroundMark x1="39599" y1="76447" x2="39599" y2="76447"/>
                        <a14:foregroundMark x1="40100" y1="76447" x2="40100" y2="76447"/>
                        <a14:foregroundMark x1="42105" y1="76048" x2="42105" y2="76048"/>
                        <a14:foregroundMark x1="43108" y1="76048" x2="43108" y2="76048"/>
                        <a14:foregroundMark x1="43609" y1="76048" x2="43609" y2="76048"/>
                        <a14:foregroundMark x1="46617" y1="76048" x2="46617" y2="76048"/>
                        <a14:foregroundMark x1="48120" y1="76048" x2="48120" y2="76048"/>
                        <a14:foregroundMark x1="49624" y1="76048" x2="49624" y2="76048"/>
                        <a14:foregroundMark x1="51629" y1="76048" x2="51629" y2="76048"/>
                        <a14:foregroundMark x1="52130" y1="76048" x2="53383" y2="76048"/>
                        <a14:foregroundMark x1="53885" y1="76048" x2="59900" y2="76048"/>
                        <a14:foregroundMark x1="60902" y1="76048" x2="60902" y2="76048"/>
                        <a14:foregroundMark x1="61905" y1="76048" x2="61905" y2="76048"/>
                        <a14:foregroundMark x1="61905" y1="76048" x2="61905" y2="76048"/>
                        <a14:foregroundMark x1="61905" y1="76048" x2="61905" y2="76048"/>
                        <a14:foregroundMark x1="61905" y1="76048" x2="61905" y2="76048"/>
                        <a14:foregroundMark x1="61905" y1="76048" x2="64912" y2="76846"/>
                        <a14:foregroundMark x1="69173" y1="77645" x2="69173" y2="77645"/>
                        <a14:foregroundMark x1="70175" y1="77645" x2="70175" y2="77645"/>
                        <a14:foregroundMark x1="70175" y1="77645" x2="70175" y2="77645"/>
                        <a14:foregroundMark x1="70175" y1="77246" x2="70175" y2="77246"/>
                        <a14:foregroundMark x1="71679" y1="76846" x2="71679" y2="76846"/>
                        <a14:foregroundMark x1="71178" y1="76846" x2="71178" y2="76846"/>
                        <a14:foregroundMark x1="68672" y1="76846" x2="67419" y2="76846"/>
                        <a14:foregroundMark x1="65915" y1="76846" x2="63409" y2="77246"/>
                        <a14:foregroundMark x1="54887" y1="77645" x2="48622" y2="76846"/>
                        <a14:foregroundMark x1="39599" y1="76048" x2="37093" y2="75649"/>
                        <a14:foregroundMark x1="34336" y1="75649" x2="34336" y2="75649"/>
                        <a14:foregroundMark x1="32832" y1="75649" x2="32832" y2="75649"/>
                        <a14:foregroundMark x1="32331" y1="75649" x2="32331" y2="75649"/>
                        <a14:foregroundMark x1="31830" y1="76048" x2="31830" y2="76048"/>
                        <a14:foregroundMark x1="31830" y1="77246" x2="31830" y2="77246"/>
                        <a14:foregroundMark x1="31328" y1="77645" x2="31328" y2="77645"/>
                        <a14:foregroundMark x1="30827" y1="77645" x2="30827" y2="77645"/>
                        <a14:foregroundMark x1="29825" y1="77645" x2="29825" y2="77645"/>
                        <a14:foregroundMark x1="30827" y1="77645" x2="30827" y2="77645"/>
                        <a14:foregroundMark x1="33835" y1="77645" x2="33835" y2="77645"/>
                        <a14:foregroundMark x1="37093" y1="77246" x2="38596" y2="76846"/>
                        <a14:foregroundMark x1="41103" y1="76846" x2="41103" y2="76846"/>
                        <a14:foregroundMark x1="43609" y1="76447" x2="43609" y2="76447"/>
                        <a14:foregroundMark x1="46115" y1="76447" x2="46115" y2="76447"/>
                        <a14:foregroundMark x1="49624" y1="76447" x2="49624" y2="76447"/>
                        <a14:foregroundMark x1="51128" y1="76447" x2="52381" y2="76447"/>
                        <a14:foregroundMark x1="54887" y1="76447" x2="59398" y2="76447"/>
                        <a14:foregroundMark x1="60902" y1="76447" x2="60902" y2="76447"/>
                        <a14:foregroundMark x1="62907" y1="75649" x2="62907" y2="75649"/>
                        <a14:foregroundMark x1="64411" y1="75649" x2="64411" y2="75649"/>
                        <a14:foregroundMark x1="66416" y1="75649" x2="66416" y2="75649"/>
                        <a14:foregroundMark x1="67419" y1="76048" x2="67419" y2="76048"/>
                        <a14:foregroundMark x1="67920" y1="76447" x2="67920" y2="76447"/>
                        <a14:foregroundMark x1="68672" y1="76447" x2="68672" y2="76447"/>
                        <a14:foregroundMark x1="69173" y1="76447" x2="69173" y2="76447"/>
                        <a14:foregroundMark x1="69173" y1="76447" x2="69173" y2="76447"/>
                        <a14:foregroundMark x1="68672" y1="76846" x2="68672" y2="76846"/>
                        <a14:foregroundMark x1="66917" y1="76846" x2="66917" y2="76846"/>
                        <a14:foregroundMark x1="65414" y1="76846" x2="65414" y2="76846"/>
                        <a14:foregroundMark x1="67419" y1="76846" x2="67419" y2="76846"/>
                        <a14:foregroundMark x1="68421" y1="76447" x2="68421" y2="76447"/>
                        <a14:foregroundMark x1="69173" y1="76447" x2="69173" y2="76447"/>
                        <a14:foregroundMark x1="70677" y1="76447" x2="70677" y2="76447"/>
                        <a14:foregroundMark x1="72180" y1="76447" x2="72180" y2="76447"/>
                        <a14:foregroundMark x1="72180" y1="76447" x2="72180" y2="76447"/>
                        <a14:foregroundMark x1="72180" y1="76447" x2="72180" y2="76447"/>
                        <a14:foregroundMark x1="70175" y1="76447" x2="67920" y2="76447"/>
                        <a14:foregroundMark x1="65414" y1="76447" x2="63910" y2="76447"/>
                        <a14:foregroundMark x1="62406" y1="76447" x2="62406" y2="76447"/>
                        <a14:foregroundMark x1="61404" y1="76447" x2="61404" y2="76447"/>
                        <a14:foregroundMark x1="59398" y1="76447" x2="59398" y2="76447"/>
                        <a14:foregroundMark x1="57393" y1="76447" x2="55890" y2="76447"/>
                        <a14:foregroundMark x1="55388" y1="76447" x2="55388" y2="76447"/>
                        <a14:foregroundMark x1="53383" y1="76447" x2="53383" y2="76447"/>
                        <a14:foregroundMark x1="51629" y1="76846" x2="51629" y2="76846"/>
                        <a14:foregroundMark x1="50627" y1="76846" x2="50627" y2="76846"/>
                        <a14:foregroundMark x1="49624" y1="76846" x2="49624" y2="76846"/>
                        <a14:foregroundMark x1="48622" y1="76846" x2="48622" y2="76846"/>
                        <a14:foregroundMark x1="46617" y1="77246" x2="46617" y2="77246"/>
                        <a14:foregroundMark x1="44612" y1="77246" x2="44612" y2="77246"/>
                        <a14:foregroundMark x1="44612" y1="77246" x2="44612" y2="77246"/>
                        <a14:foregroundMark x1="43609" y1="76846" x2="43609" y2="76846"/>
                        <a14:foregroundMark x1="43108" y1="76846" x2="43108" y2="76846"/>
                        <a14:foregroundMark x1="41103" y1="76447" x2="41103" y2="76447"/>
                        <a14:foregroundMark x1="41103" y1="76447" x2="41103" y2="76447"/>
                        <a14:foregroundMark x1="39599" y1="76447" x2="39599" y2="76447"/>
                        <a14:foregroundMark x1="38596" y1="76447" x2="38596" y2="76447"/>
                        <a14:foregroundMark x1="37594" y1="76447" x2="37594" y2="76447"/>
                        <a14:foregroundMark x1="35338" y1="76447" x2="33333" y2="76846"/>
                        <a14:foregroundMark x1="32331" y1="76846" x2="32331" y2="76846"/>
                        <a14:foregroundMark x1="30326" y1="77246" x2="30326" y2="77246"/>
                        <a14:foregroundMark x1="29323" y1="77645" x2="29323" y2="77645"/>
                        <a14:foregroundMark x1="28321" y1="77645" x2="28321" y2="77645"/>
                        <a14:foregroundMark x1="28321" y1="77246" x2="28321" y2="77246"/>
                        <a14:foregroundMark x1="28321" y1="77246" x2="28321" y2="77246"/>
                        <a14:foregroundMark x1="28822" y1="76846" x2="28822" y2="76846"/>
                        <a14:foregroundMark x1="28822" y1="76447" x2="28822" y2="76447"/>
                        <a14:foregroundMark x1="28822" y1="75649" x2="28822" y2="75649"/>
                        <a14:foregroundMark x1="28822" y1="74850" x2="28822" y2="74850"/>
                        <a14:foregroundMark x1="29323" y1="73253" x2="29323" y2="73253"/>
                        <a14:foregroundMark x1="30326" y1="72455" x2="32331" y2="72455"/>
                        <a14:foregroundMark x1="35338" y1="74850" x2="35338" y2="74850"/>
                        <a14:foregroundMark x1="35840" y1="75250" x2="35840" y2="75250"/>
                        <a14:foregroundMark x1="35840" y1="73253" x2="35840" y2="73253"/>
                        <a14:foregroundMark x1="36341" y1="73253" x2="36341" y2="73253"/>
                        <a14:foregroundMark x1="36591" y1="73253" x2="36591" y2="73253"/>
                        <a14:foregroundMark x1="36591" y1="73253" x2="36591" y2="73253"/>
                        <a14:foregroundMark x1="38095" y1="73253" x2="38095" y2="73253"/>
                        <a14:foregroundMark x1="38095" y1="73253" x2="38095" y2="73253"/>
                        <a14:foregroundMark x1="41103" y1="73253" x2="41103" y2="73253"/>
                        <a14:foregroundMark x1="41103" y1="73253" x2="41103" y2="73253"/>
                        <a14:foregroundMark x1="42105" y1="73253" x2="42105" y2="73253"/>
                        <a14:foregroundMark x1="43108" y1="72854" x2="43108" y2="72854"/>
                        <a14:foregroundMark x1="44612" y1="72854" x2="44612" y2="72854"/>
                        <a14:foregroundMark x1="45614" y1="72854" x2="45614" y2="72854"/>
                        <a14:foregroundMark x1="47118" y1="72854" x2="50125" y2="72455"/>
                        <a14:foregroundMark x1="52381" y1="72455" x2="52381" y2="72455"/>
                        <a14:foregroundMark x1="53383" y1="72455" x2="53383" y2="72455"/>
                        <a14:foregroundMark x1="58897" y1="72854" x2="58897" y2="72854"/>
                        <a14:foregroundMark x1="60401" y1="72854" x2="60401" y2="72854"/>
                        <a14:foregroundMark x1="49624" y1="74052" x2="48120" y2="74052"/>
                        <a14:foregroundMark x1="45113" y1="73653" x2="43108" y2="73653"/>
                        <a14:foregroundMark x1="41103" y1="74052" x2="39599" y2="74451"/>
                        <a14:foregroundMark x1="39098" y1="74850" x2="39098" y2="74850"/>
                        <a14:foregroundMark x1="40100" y1="76447" x2="40100" y2="76447"/>
                        <a14:foregroundMark x1="41103" y1="76447" x2="41103" y2="76447"/>
                        <a14:foregroundMark x1="42607" y1="76447" x2="42607" y2="76447"/>
                        <a14:foregroundMark x1="43108" y1="76447" x2="43108" y2="76447"/>
                        <a14:foregroundMark x1="43108" y1="76447" x2="43108" y2="76447"/>
                        <a14:foregroundMark x1="43609" y1="76447" x2="43609" y2="76447"/>
                        <a14:foregroundMark x1="44110" y1="76447" x2="44110" y2="76447"/>
                        <a14:foregroundMark x1="45614" y1="76447" x2="45614" y2="76447"/>
                        <a14:foregroundMark x1="47619" y1="75649" x2="47619" y2="75649"/>
                        <a14:foregroundMark x1="49624" y1="75250" x2="49624" y2="75250"/>
                        <a14:foregroundMark x1="50627" y1="75250" x2="52130" y2="75250"/>
                        <a14:foregroundMark x1="52381" y1="75250" x2="52381" y2="75250"/>
                        <a14:foregroundMark x1="54887" y1="75250" x2="54887" y2="75250"/>
                        <a14:foregroundMark x1="55890" y1="75250" x2="55890" y2="75250"/>
                        <a14:foregroundMark x1="57393" y1="75250" x2="58897" y2="75250"/>
                        <a14:foregroundMark x1="60401" y1="75250" x2="60401" y2="75250"/>
                        <a14:foregroundMark x1="61404" y1="75250" x2="61404" y2="75250"/>
                        <a14:foregroundMark x1="63910" y1="75250" x2="65414" y2="75250"/>
                        <a14:foregroundMark x1="66917" y1="75250" x2="64411" y2="76048"/>
                        <a14:foregroundMark x1="43609" y1="74850" x2="40602" y2="74850"/>
                        <a14:foregroundMark x1="37093" y1="74850" x2="37093" y2="74850"/>
                        <a14:foregroundMark x1="34336" y1="75649" x2="32832" y2="76048"/>
                        <a14:foregroundMark x1="32331" y1="76447" x2="32331" y2="76447"/>
                        <a14:foregroundMark x1="32331" y1="76447" x2="32331" y2="76447"/>
                        <a14:foregroundMark x1="40100" y1="68663" x2="41604" y2="67864"/>
                        <a14:foregroundMark x1="49123" y1="65868" x2="49123" y2="65868"/>
                      </a14:backgroundRemoval>
                    </a14:imgEffect>
                  </a14:imgLayer>
                </a14:imgProps>
              </a:ext>
              <a:ext uri="{28A0092B-C50C-407E-A947-70E740481C1C}">
                <a14:useLocalDpi xmlns:a14="http://schemas.microsoft.com/office/drawing/2010/main" val="0"/>
              </a:ext>
            </a:extLst>
          </a:blip>
          <a:srcRect/>
          <a:stretch>
            <a:fillRect/>
          </a:stretch>
        </p:blipFill>
        <p:spPr bwMode="auto">
          <a:xfrm>
            <a:off x="6134850" y="3743685"/>
            <a:ext cx="2573338" cy="3231184"/>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X Mark And Check Mark PNGs for Free Download">
            <a:extLst>
              <a:ext uri="{FF2B5EF4-FFF2-40B4-BE49-F238E27FC236}">
                <a16:creationId xmlns:a16="http://schemas.microsoft.com/office/drawing/2014/main" id="{5C2CB28E-070A-03D0-32CE-2282EB35E141}"/>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8784" b="89865" l="7778" r="94815">
                        <a14:foregroundMark x1="31111" y1="71622" x2="31111" y2="71622"/>
                        <a14:foregroundMark x1="42593" y1="31081" x2="42593" y2="31081"/>
                        <a14:foregroundMark x1="10741" y1="43243" x2="10741" y2="43243"/>
                        <a14:foregroundMark x1="8889" y1="43243" x2="8889" y2="43243"/>
                        <a14:foregroundMark x1="7778" y1="45946" x2="7778" y2="45946"/>
                        <a14:foregroundMark x1="7778" y1="50000" x2="7778" y2="50000"/>
                        <a14:foregroundMark x1="8519" y1="51351" x2="8519" y2="51351"/>
                        <a14:foregroundMark x1="9259" y1="53378" x2="9259" y2="53378"/>
                        <a14:foregroundMark x1="10370" y1="56081" x2="10370" y2="56081"/>
                        <a14:foregroundMark x1="12222" y1="59459" x2="12222" y2="59459"/>
                        <a14:foregroundMark x1="90000" y1="29730" x2="90000" y2="29730"/>
                        <a14:foregroundMark x1="93333" y1="22973" x2="93333" y2="22973"/>
                        <a14:foregroundMark x1="94444" y1="77703" x2="94444" y2="77703"/>
                        <a14:foregroundMark x1="94815" y1="26351" x2="94815" y2="26351"/>
                        <a14:foregroundMark x1="44444" y1="24324" x2="44444" y2="24324"/>
                        <a14:foregroundMark x1="38889" y1="28378" x2="38889" y2="28378"/>
                        <a14:foregroundMark x1="31481" y1="41892" x2="31481" y2="41892"/>
                      </a14:backgroundRemoval>
                    </a14:imgEffect>
                  </a14:imgLayer>
                </a14:imgProps>
              </a:ext>
              <a:ext uri="{28A0092B-C50C-407E-A947-70E740481C1C}">
                <a14:useLocalDpi xmlns:a14="http://schemas.microsoft.com/office/drawing/2010/main" val="0"/>
              </a:ext>
            </a:extLst>
          </a:blip>
          <a:srcRect/>
          <a:stretch>
            <a:fillRect/>
          </a:stretch>
        </p:blipFill>
        <p:spPr bwMode="auto">
          <a:xfrm>
            <a:off x="33169" y="5223611"/>
            <a:ext cx="2571750" cy="1409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2671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BE64CD-4FD5-7F24-67CA-29E6CF22DF97}"/>
              </a:ext>
            </a:extLst>
          </p:cNvPr>
          <p:cNvSpPr>
            <a:spLocks noGrp="1"/>
          </p:cNvSpPr>
          <p:nvPr>
            <p:ph type="ctrTitle"/>
          </p:nvPr>
        </p:nvSpPr>
        <p:spPr>
          <a:xfrm>
            <a:off x="1595269" y="114299"/>
            <a:ext cx="9001462" cy="982663"/>
          </a:xfrm>
        </p:spPr>
        <p:txBody>
          <a:bodyPr/>
          <a:lstStyle/>
          <a:p>
            <a:r>
              <a:rPr lang="ar-EG" dirty="0">
                <a:solidFill>
                  <a:schemeClr val="accent6">
                    <a:lumMod val="60000"/>
                    <a:lumOff val="40000"/>
                  </a:schemeClr>
                </a:solidFill>
              </a:rPr>
              <a:t>أضرار ثغرة رفع الملفات</a:t>
            </a:r>
            <a:endParaRPr lang="en-US" dirty="0">
              <a:solidFill>
                <a:schemeClr val="accent6">
                  <a:lumMod val="60000"/>
                  <a:lumOff val="40000"/>
                </a:schemeClr>
              </a:solidFill>
            </a:endParaRPr>
          </a:p>
        </p:txBody>
      </p:sp>
      <p:sp>
        <p:nvSpPr>
          <p:cNvPr id="6" name="Rectangle 1">
            <a:extLst>
              <a:ext uri="{FF2B5EF4-FFF2-40B4-BE49-F238E27FC236}">
                <a16:creationId xmlns:a16="http://schemas.microsoft.com/office/drawing/2014/main" id="{3B97DD6F-96F3-4C6B-98E5-E28724D290A8}"/>
              </a:ext>
            </a:extLst>
          </p:cNvPr>
          <p:cNvSpPr>
            <a:spLocks noGrp="1" noChangeArrowheads="1"/>
          </p:cNvSpPr>
          <p:nvPr>
            <p:ph type="subTitle" idx="1"/>
          </p:nvPr>
        </p:nvSpPr>
        <p:spPr bwMode="auto">
          <a:xfrm>
            <a:off x="90991" y="1096962"/>
            <a:ext cx="12010018" cy="3074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r" defTabSz="914400" rtl="1"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ar-SA" altLang="en-US" sz="2000" b="1" i="0" u="none" strike="noStrike" cap="none" normalizeH="0" baseline="0" dirty="0">
                <a:ln>
                  <a:noFill/>
                </a:ln>
                <a:solidFill>
                  <a:schemeClr val="tx1"/>
                </a:solidFill>
                <a:effectLst/>
                <a:latin typeface="Arial" panose="020B0604020202020204" pitchFamily="34" charset="0"/>
                <a:cs typeface="+mj-cs"/>
              </a:rPr>
              <a:t>التحكم في الخادم</a:t>
            </a:r>
            <a:r>
              <a:rPr kumimoji="0" lang="en-US" altLang="en-US" sz="2000" b="1" i="0" u="none" strike="noStrike" cap="none" normalizeH="0" baseline="0" dirty="0">
                <a:ln>
                  <a:noFill/>
                </a:ln>
                <a:solidFill>
                  <a:schemeClr val="tx1"/>
                </a:solidFill>
                <a:effectLst/>
                <a:latin typeface="Arial" panose="020B0604020202020204" pitchFamily="34" charset="0"/>
                <a:cs typeface="+mj-cs"/>
              </a:rPr>
              <a:t> </a:t>
            </a:r>
            <a:r>
              <a:rPr kumimoji="0" lang="en-US" altLang="en-US" sz="2000" i="0" u="none" strike="noStrike" cap="none" normalizeH="0" baseline="0" dirty="0">
                <a:ln>
                  <a:noFill/>
                </a:ln>
                <a:solidFill>
                  <a:schemeClr val="tx1"/>
                </a:solidFill>
                <a:effectLst/>
                <a:latin typeface="Arial" panose="020B0604020202020204" pitchFamily="34" charset="0"/>
                <a:cs typeface="+mj-cs"/>
              </a:rPr>
              <a:t>(Remote Code Execution - RCE): </a:t>
            </a:r>
            <a:r>
              <a:rPr kumimoji="0" lang="ar-SA" altLang="en-US" sz="2000" i="0" u="none" strike="noStrike" cap="none" normalizeH="0" baseline="0" dirty="0">
                <a:ln>
                  <a:noFill/>
                </a:ln>
                <a:solidFill>
                  <a:schemeClr val="tx1"/>
                </a:solidFill>
                <a:effectLst/>
                <a:latin typeface="Arial" panose="020B0604020202020204" pitchFamily="34" charset="0"/>
                <a:cs typeface="+mj-cs"/>
              </a:rPr>
              <a:t>رفع وتشغيل ملفات خبيثة مثل</a:t>
            </a:r>
            <a:r>
              <a:rPr kumimoji="0" lang="en-US" altLang="en-US" sz="2000" i="0" u="none" strike="noStrike" cap="none" normalizeH="0" baseline="0" dirty="0">
                <a:ln>
                  <a:noFill/>
                </a:ln>
                <a:solidFill>
                  <a:schemeClr val="tx1"/>
                </a:solidFill>
                <a:effectLst/>
                <a:latin typeface="Arial" panose="020B0604020202020204" pitchFamily="34" charset="0"/>
                <a:cs typeface="+mj-cs"/>
              </a:rPr>
              <a:t> PHP </a:t>
            </a:r>
            <a:r>
              <a:rPr kumimoji="0" lang="ar-SA" altLang="en-US" sz="2000" i="0" u="none" strike="noStrike" cap="none" normalizeH="0" baseline="0" dirty="0">
                <a:ln>
                  <a:noFill/>
                </a:ln>
                <a:solidFill>
                  <a:schemeClr val="tx1"/>
                </a:solidFill>
                <a:effectLst/>
                <a:latin typeface="Arial" panose="020B0604020202020204" pitchFamily="34" charset="0"/>
                <a:cs typeface="+mj-cs"/>
              </a:rPr>
              <a:t>أو</a:t>
            </a:r>
            <a:r>
              <a:rPr kumimoji="0" lang="en-US" altLang="en-US" sz="2000" i="0" u="none" strike="noStrike" cap="none" normalizeH="0" baseline="0" dirty="0">
                <a:ln>
                  <a:noFill/>
                </a:ln>
                <a:solidFill>
                  <a:schemeClr val="tx1"/>
                </a:solidFill>
                <a:effectLst/>
                <a:latin typeface="Arial" panose="020B0604020202020204" pitchFamily="34" charset="0"/>
                <a:cs typeface="+mj-cs"/>
              </a:rPr>
              <a:t> ASP</a:t>
            </a:r>
            <a:br>
              <a:rPr kumimoji="0" lang="ar-EG" altLang="en-US" sz="2000" i="0" u="none" strike="noStrike" cap="none" normalizeH="0" baseline="0" dirty="0">
                <a:ln>
                  <a:noFill/>
                </a:ln>
                <a:solidFill>
                  <a:schemeClr val="tx1"/>
                </a:solidFill>
                <a:effectLst/>
                <a:latin typeface="Arial" panose="020B0604020202020204" pitchFamily="34" charset="0"/>
                <a:cs typeface="+mj-cs"/>
              </a:rPr>
            </a:br>
            <a:r>
              <a:rPr kumimoji="0" lang="en-US" altLang="en-US" sz="2000" i="0" u="none" strike="noStrike" cap="none" normalizeH="0" baseline="0" dirty="0">
                <a:ln>
                  <a:noFill/>
                </a:ln>
                <a:solidFill>
                  <a:schemeClr val="tx1"/>
                </a:solidFill>
                <a:effectLst/>
                <a:latin typeface="Arial" panose="020B0604020202020204" pitchFamily="34" charset="0"/>
                <a:cs typeface="+mj-cs"/>
              </a:rPr>
              <a:t> </a:t>
            </a:r>
            <a:r>
              <a:rPr kumimoji="0" lang="ar-SA" altLang="en-US" sz="2000" i="0" u="none" strike="noStrike" cap="none" normalizeH="0" baseline="0" dirty="0">
                <a:ln>
                  <a:noFill/>
                </a:ln>
                <a:solidFill>
                  <a:schemeClr val="tx1"/>
                </a:solidFill>
                <a:effectLst/>
                <a:latin typeface="Arial" panose="020B0604020202020204" pitchFamily="34" charset="0"/>
                <a:cs typeface="+mj-cs"/>
              </a:rPr>
              <a:t>مما يسمح للمهاجم بتنفيذ أوامر مباشرة على الخادم</a:t>
            </a:r>
            <a:r>
              <a:rPr kumimoji="0" lang="en-US" altLang="en-US" sz="2000" i="0" u="none" strike="noStrike" cap="none" normalizeH="0" baseline="0" dirty="0">
                <a:ln>
                  <a:noFill/>
                </a:ln>
                <a:solidFill>
                  <a:schemeClr val="tx1"/>
                </a:solidFill>
                <a:effectLst/>
                <a:latin typeface="Arial" panose="020B0604020202020204" pitchFamily="34" charset="0"/>
                <a:cs typeface="+mj-cs"/>
              </a:rPr>
              <a:t>.</a:t>
            </a:r>
          </a:p>
          <a:p>
            <a:pPr marL="342900" marR="0" lvl="0" indent="-342900" algn="r" defTabSz="914400" rtl="1"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ar-SA" altLang="en-US" sz="2000" b="1" i="0" u="none" strike="noStrike" cap="none" normalizeH="0" baseline="0" dirty="0">
                <a:ln>
                  <a:noFill/>
                </a:ln>
                <a:solidFill>
                  <a:schemeClr val="tx1"/>
                </a:solidFill>
                <a:effectLst/>
                <a:latin typeface="Arial" panose="020B0604020202020204" pitchFamily="34" charset="0"/>
                <a:cs typeface="+mj-cs"/>
              </a:rPr>
              <a:t>سرقة وتسريب البيانات</a:t>
            </a:r>
            <a:r>
              <a:rPr kumimoji="0" lang="en-US" altLang="en-US" sz="2000" b="1" i="0" u="none" strike="noStrike" cap="none" normalizeH="0" baseline="0" dirty="0">
                <a:ln>
                  <a:noFill/>
                </a:ln>
                <a:solidFill>
                  <a:schemeClr val="tx1"/>
                </a:solidFill>
                <a:effectLst/>
                <a:latin typeface="Arial" panose="020B0604020202020204" pitchFamily="34" charset="0"/>
                <a:cs typeface="+mj-cs"/>
              </a:rPr>
              <a:t> </a:t>
            </a:r>
            <a:r>
              <a:rPr kumimoji="0" lang="en-US" altLang="en-US" sz="2000" i="0" u="none" strike="noStrike" cap="none" normalizeH="0" baseline="0" dirty="0">
                <a:ln>
                  <a:noFill/>
                </a:ln>
                <a:solidFill>
                  <a:schemeClr val="tx1"/>
                </a:solidFill>
                <a:effectLst/>
                <a:latin typeface="Arial" panose="020B0604020202020204" pitchFamily="34" charset="0"/>
                <a:cs typeface="+mj-cs"/>
              </a:rPr>
              <a:t>(Data Breach): </a:t>
            </a:r>
            <a:r>
              <a:rPr kumimoji="0" lang="ar-SA" altLang="en-US" sz="2000" i="0" u="none" strike="noStrike" cap="none" normalizeH="0" baseline="0" dirty="0">
                <a:ln>
                  <a:noFill/>
                </a:ln>
                <a:solidFill>
                  <a:schemeClr val="tx1"/>
                </a:solidFill>
                <a:effectLst/>
                <a:latin typeface="Arial" panose="020B0604020202020204" pitchFamily="34" charset="0"/>
                <a:cs typeface="+mj-cs"/>
              </a:rPr>
              <a:t>الوصول إلى قواعد البيانات وملفات العملاء وسرقة المعلومات الحساسة</a:t>
            </a:r>
            <a:r>
              <a:rPr kumimoji="0" lang="en-US" altLang="en-US" sz="2000" i="0" u="none" strike="noStrike" cap="none" normalizeH="0" baseline="0" dirty="0">
                <a:ln>
                  <a:noFill/>
                </a:ln>
                <a:solidFill>
                  <a:schemeClr val="tx1"/>
                </a:solidFill>
                <a:effectLst/>
                <a:latin typeface="Arial" panose="020B0604020202020204" pitchFamily="34" charset="0"/>
                <a:cs typeface="+mj-cs"/>
              </a:rPr>
              <a:t>.</a:t>
            </a:r>
          </a:p>
          <a:p>
            <a:pPr marL="342900" marR="0" lvl="0" indent="-342900" algn="r" defTabSz="914400" rtl="1"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ar-SA" altLang="en-US" sz="2000" b="1" i="0" u="none" strike="noStrike" cap="none" normalizeH="0" baseline="0" dirty="0">
                <a:ln>
                  <a:noFill/>
                </a:ln>
                <a:solidFill>
                  <a:schemeClr val="tx1"/>
                </a:solidFill>
                <a:effectLst/>
                <a:latin typeface="Arial" panose="020B0604020202020204" pitchFamily="34" charset="0"/>
                <a:cs typeface="+mj-cs"/>
              </a:rPr>
              <a:t>هجمات حجب الخدمة</a:t>
            </a:r>
            <a:r>
              <a:rPr kumimoji="0" lang="en-US" altLang="en-US" sz="2000" b="1" i="0" u="none" strike="noStrike" cap="none" normalizeH="0" baseline="0" dirty="0">
                <a:ln>
                  <a:noFill/>
                </a:ln>
                <a:solidFill>
                  <a:schemeClr val="tx1"/>
                </a:solidFill>
                <a:effectLst/>
                <a:latin typeface="Arial" panose="020B0604020202020204" pitchFamily="34" charset="0"/>
                <a:cs typeface="+mj-cs"/>
              </a:rPr>
              <a:t> </a:t>
            </a:r>
            <a:r>
              <a:rPr kumimoji="0" lang="en-US" altLang="en-US" sz="2000" i="0" u="none" strike="noStrike" cap="none" normalizeH="0" baseline="0" dirty="0">
                <a:ln>
                  <a:noFill/>
                </a:ln>
                <a:solidFill>
                  <a:schemeClr val="tx1"/>
                </a:solidFill>
                <a:effectLst/>
                <a:latin typeface="Arial" panose="020B0604020202020204" pitchFamily="34" charset="0"/>
                <a:cs typeface="+mj-cs"/>
              </a:rPr>
              <a:t>(Denial of Service - DoS): </a:t>
            </a:r>
            <a:r>
              <a:rPr kumimoji="0" lang="ar-SA" altLang="en-US" sz="2000" i="0" u="none" strike="noStrike" cap="none" normalizeH="0" baseline="0" dirty="0">
                <a:ln>
                  <a:noFill/>
                </a:ln>
                <a:solidFill>
                  <a:schemeClr val="tx1"/>
                </a:solidFill>
                <a:effectLst/>
                <a:latin typeface="Arial" panose="020B0604020202020204" pitchFamily="34" charset="0"/>
                <a:cs typeface="+mj-cs"/>
              </a:rPr>
              <a:t>استهلاك موارد الخادم أو مساحة التخزين عبر رفع ملفات ضخمة أو بأعداد كبيرة</a:t>
            </a:r>
            <a:r>
              <a:rPr kumimoji="0" lang="en-US" altLang="en-US" sz="2000" i="0" u="none" strike="noStrike" cap="none" normalizeH="0" baseline="0" dirty="0">
                <a:ln>
                  <a:noFill/>
                </a:ln>
                <a:solidFill>
                  <a:schemeClr val="tx1"/>
                </a:solidFill>
                <a:effectLst/>
                <a:latin typeface="Arial" panose="020B0604020202020204" pitchFamily="34" charset="0"/>
                <a:cs typeface="+mj-cs"/>
              </a:rPr>
              <a:t>.</a:t>
            </a:r>
          </a:p>
          <a:p>
            <a:pPr marL="342900" marR="0" lvl="0" indent="-342900" algn="r" defTabSz="914400" rtl="1"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ar-SA" altLang="en-US" sz="2000" b="1" i="0" u="none" strike="noStrike" cap="none" normalizeH="0" baseline="0" dirty="0">
                <a:ln>
                  <a:noFill/>
                </a:ln>
                <a:solidFill>
                  <a:schemeClr val="tx1"/>
                </a:solidFill>
                <a:effectLst/>
                <a:latin typeface="Arial" panose="020B0604020202020204" pitchFamily="34" charset="0"/>
                <a:cs typeface="+mj-cs"/>
              </a:rPr>
              <a:t>تشويه الموقع</a:t>
            </a:r>
            <a:r>
              <a:rPr kumimoji="0" lang="en-US" altLang="en-US" sz="2000" b="1" i="0" u="none" strike="noStrike" cap="none" normalizeH="0" baseline="0" dirty="0">
                <a:ln>
                  <a:noFill/>
                </a:ln>
                <a:solidFill>
                  <a:schemeClr val="tx1"/>
                </a:solidFill>
                <a:effectLst/>
                <a:latin typeface="Arial" panose="020B0604020202020204" pitchFamily="34" charset="0"/>
                <a:cs typeface="+mj-cs"/>
              </a:rPr>
              <a:t> </a:t>
            </a:r>
            <a:r>
              <a:rPr kumimoji="0" lang="en-US" altLang="en-US" sz="2000" i="0" u="none" strike="noStrike" cap="none" normalizeH="0" baseline="0" dirty="0">
                <a:ln>
                  <a:noFill/>
                </a:ln>
                <a:solidFill>
                  <a:schemeClr val="tx1"/>
                </a:solidFill>
                <a:effectLst/>
                <a:latin typeface="Arial" panose="020B0604020202020204" pitchFamily="34" charset="0"/>
                <a:cs typeface="+mj-cs"/>
              </a:rPr>
              <a:t>(Website Defacement): </a:t>
            </a:r>
            <a:r>
              <a:rPr kumimoji="0" lang="ar-SA" altLang="en-US" sz="2000" i="0" u="none" strike="noStrike" cap="none" normalizeH="0" baseline="0" dirty="0">
                <a:ln>
                  <a:noFill/>
                </a:ln>
                <a:solidFill>
                  <a:schemeClr val="tx1"/>
                </a:solidFill>
                <a:effectLst/>
                <a:latin typeface="Arial" panose="020B0604020202020204" pitchFamily="34" charset="0"/>
                <a:cs typeface="+mj-cs"/>
              </a:rPr>
              <a:t>تعديل صفحات الموقع أو استبدال محتواها ونشر برمجيات خبيثة للزوار</a:t>
            </a:r>
            <a:r>
              <a:rPr kumimoji="0" lang="en-US" altLang="en-US" sz="2000" i="0" u="none" strike="noStrike" cap="none" normalizeH="0" baseline="0" dirty="0">
                <a:ln>
                  <a:noFill/>
                </a:ln>
                <a:solidFill>
                  <a:schemeClr val="tx1"/>
                </a:solidFill>
                <a:effectLst/>
                <a:latin typeface="Arial" panose="020B0604020202020204" pitchFamily="34" charset="0"/>
                <a:cs typeface="+mj-cs"/>
              </a:rPr>
              <a:t>. </a:t>
            </a:r>
          </a:p>
        </p:txBody>
      </p:sp>
      <p:pic>
        <p:nvPicPr>
          <p:cNvPr id="5123" name="Picture 3" descr="Your Website Has Been Hacked">
            <a:extLst>
              <a:ext uri="{FF2B5EF4-FFF2-40B4-BE49-F238E27FC236}">
                <a16:creationId xmlns:a16="http://schemas.microsoft.com/office/drawing/2014/main" id="{9D07DF57-39B2-1018-29D5-6CA657874821}"/>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4237" b="98588" l="2304" r="98238">
                        <a14:foregroundMark x1="24255" y1="46893" x2="24255" y2="46893"/>
                        <a14:foregroundMark x1="26965" y1="40678" x2="26965" y2="40678"/>
                        <a14:foregroundMark x1="30217" y1="35311" x2="30217" y2="35311"/>
                        <a14:foregroundMark x1="32249" y1="31921" x2="32249" y2="31921"/>
                        <a14:foregroundMark x1="34146" y1="30791" x2="37805" y2="31356"/>
                        <a14:foregroundMark x1="47696" y1="28531" x2="50136" y2="31921"/>
                        <a14:foregroundMark x1="52439" y1="31356" x2="55149" y2="34181"/>
                        <a14:foregroundMark x1="60976" y1="38418" x2="64228" y2="41808"/>
                        <a14:foregroundMark x1="65176" y1="43503" x2="69512" y2="48023"/>
                        <a14:foregroundMark x1="73984" y1="48023" x2="75610" y2="49153"/>
                        <a14:foregroundMark x1="77778" y1="48588" x2="81165" y2="47458"/>
                        <a14:foregroundMark x1="84959" y1="44068" x2="84959" y2="44068"/>
                        <a14:foregroundMark x1="88347" y1="37288" x2="88347" y2="37288"/>
                        <a14:foregroundMark x1="91057" y1="30226" x2="91057" y2="30226"/>
                        <a14:foregroundMark x1="91057" y1="28531" x2="91057" y2="28531"/>
                        <a14:foregroundMark x1="92005" y1="35311" x2="94444" y2="41243"/>
                        <a14:foregroundMark x1="94444" y1="42938" x2="93902" y2="64972"/>
                        <a14:foregroundMark x1="93360" y1="67797" x2="89973" y2="79379"/>
                        <a14:foregroundMark x1="88889" y1="79379" x2="42547" y2="22881"/>
                        <a14:foregroundMark x1="42547" y1="22881" x2="12060" y2="8475"/>
                        <a14:foregroundMark x1="12060" y1="8475" x2="34011" y2="56780"/>
                        <a14:foregroundMark x1="34011" y1="56780" x2="50407" y2="57910"/>
                        <a14:foregroundMark x1="55149" y1="56215" x2="55149" y2="56215"/>
                        <a14:foregroundMark x1="49593" y1="70621" x2="41463" y2="92938"/>
                        <a14:foregroundMark x1="41463" y1="92938" x2="19648" y2="58192"/>
                        <a14:foregroundMark x1="19648" y1="58192" x2="19783" y2="36158"/>
                        <a14:foregroundMark x1="57588" y1="83898" x2="29133" y2="92938"/>
                        <a14:foregroundMark x1="29133" y1="92938" x2="12195" y2="66667"/>
                        <a14:foregroundMark x1="12195" y1="66667" x2="2304" y2="26836"/>
                        <a14:foregroundMark x1="40786" y1="10169" x2="86179" y2="31921"/>
                        <a14:foregroundMark x1="86179" y1="31921" x2="95799" y2="61017"/>
                        <a14:foregroundMark x1="95799" y1="61017" x2="96883" y2="98870"/>
                        <a14:foregroundMark x1="96883" y1="98870" x2="15718" y2="87006"/>
                        <a14:foregroundMark x1="15718" y1="87006" x2="8401" y2="42373"/>
                        <a14:foregroundMark x1="8401" y1="42373" x2="8943" y2="35311"/>
                        <a14:foregroundMark x1="3252" y1="13559" x2="36856" y2="4237"/>
                        <a14:foregroundMark x1="36856" y1="4237" x2="98238" y2="10169"/>
                      </a14:backgroundRemoval>
                    </a14:imgEffect>
                  </a14:imgLayer>
                </a14:imgProps>
              </a:ext>
              <a:ext uri="{28A0092B-C50C-407E-A947-70E740481C1C}">
                <a14:useLocalDpi xmlns:a14="http://schemas.microsoft.com/office/drawing/2010/main" val="0"/>
              </a:ext>
            </a:extLst>
          </a:blip>
          <a:srcRect/>
          <a:stretch>
            <a:fillRect/>
          </a:stretch>
        </p:blipFill>
        <p:spPr bwMode="auto">
          <a:xfrm>
            <a:off x="7413035" y="4311469"/>
            <a:ext cx="4778965" cy="2546531"/>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5125" name="Picture 5" descr="Denial-of-Service (DoS) Attacks — Web-based App Security | Spanning">
            <a:extLst>
              <a:ext uri="{FF2B5EF4-FFF2-40B4-BE49-F238E27FC236}">
                <a16:creationId xmlns:a16="http://schemas.microsoft.com/office/drawing/2014/main" id="{09A38A36-15AA-3189-D288-EBA948FA91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311469"/>
            <a:ext cx="3198222" cy="2686413"/>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5129" name="Picture 9" descr="Website Defacement Detection and Monitoring Methods: A Review">
            <a:extLst>
              <a:ext uri="{FF2B5EF4-FFF2-40B4-BE49-F238E27FC236}">
                <a16:creationId xmlns:a16="http://schemas.microsoft.com/office/drawing/2014/main" id="{E7DA7165-2E25-5938-EEA5-79E8E63A2E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43943" y="4171586"/>
            <a:ext cx="3323371" cy="28194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3802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0B26C-4CBE-0EC2-14FA-F1DED3C65184}"/>
              </a:ext>
            </a:extLst>
          </p:cNvPr>
          <p:cNvSpPr>
            <a:spLocks noGrp="1"/>
          </p:cNvSpPr>
          <p:nvPr>
            <p:ph type="ctrTitle"/>
          </p:nvPr>
        </p:nvSpPr>
        <p:spPr>
          <a:xfrm>
            <a:off x="2054772" y="157654"/>
            <a:ext cx="8082455" cy="583325"/>
          </a:xfrm>
        </p:spPr>
        <p:txBody>
          <a:bodyPr>
            <a:normAutofit/>
          </a:bodyPr>
          <a:lstStyle/>
          <a:p>
            <a:pPr rtl="1">
              <a:lnSpc>
                <a:spcPct val="100000"/>
              </a:lnSpc>
            </a:pPr>
            <a:r>
              <a:rPr lang="ar-EG" sz="3200" b="1" dirty="0">
                <a:solidFill>
                  <a:srgbClr val="0070C0"/>
                </a:solidFill>
              </a:rPr>
              <a:t>أحداث هزت سيرفرات ضخمة !</a:t>
            </a:r>
            <a:endParaRPr lang="en-US" sz="3200" b="1" dirty="0">
              <a:solidFill>
                <a:srgbClr val="0070C0"/>
              </a:solidFill>
            </a:endParaRPr>
          </a:p>
        </p:txBody>
      </p:sp>
      <p:sp>
        <p:nvSpPr>
          <p:cNvPr id="4" name="Rectangle 1">
            <a:extLst>
              <a:ext uri="{FF2B5EF4-FFF2-40B4-BE49-F238E27FC236}">
                <a16:creationId xmlns:a16="http://schemas.microsoft.com/office/drawing/2014/main" id="{D9DCC6BE-11EE-2376-D895-9C8A17D53683}"/>
              </a:ext>
            </a:extLst>
          </p:cNvPr>
          <p:cNvSpPr>
            <a:spLocks noGrp="1" noChangeArrowheads="1"/>
          </p:cNvSpPr>
          <p:nvPr>
            <p:ph type="subTitle" idx="1"/>
          </p:nvPr>
        </p:nvSpPr>
        <p:spPr bwMode="auto">
          <a:xfrm>
            <a:off x="420413" y="740979"/>
            <a:ext cx="11351172" cy="4462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457200" marR="0" lvl="0" indent="-457200" algn="r" defTabSz="914400" rtl="1" eaLnBrk="0" fontAlgn="base" latinLnBrk="0" hangingPunct="0">
              <a:lnSpc>
                <a:spcPct val="150000"/>
              </a:lnSpc>
              <a:spcBef>
                <a:spcPct val="0"/>
              </a:spcBef>
              <a:spcAft>
                <a:spcPct val="0"/>
              </a:spcAft>
              <a:buClrTx/>
              <a:buSzTx/>
              <a:buFont typeface="+mj-lt"/>
              <a:buAutoNum type="arabicPeriod"/>
              <a:tabLst/>
            </a:pPr>
            <a:r>
              <a:rPr kumimoji="0" lang="ar-SA" altLang="en-US" sz="2000" b="1" i="0" u="none" strike="noStrike" cap="none" normalizeH="0" baseline="0" dirty="0">
                <a:ln>
                  <a:noFill/>
                </a:ln>
                <a:solidFill>
                  <a:schemeClr val="tx1"/>
                </a:solidFill>
                <a:effectLst/>
                <a:latin typeface="Arial" panose="020B0604020202020204" pitchFamily="34" charset="0"/>
                <a:cs typeface="+mj-cs"/>
              </a:rPr>
              <a:t>اختراق برمجية</a:t>
            </a:r>
            <a:r>
              <a:rPr kumimoji="0" lang="en-US" altLang="en-US" sz="2000" b="1" i="0" u="none" strike="noStrike" cap="none" normalizeH="0" baseline="0" dirty="0">
                <a:ln>
                  <a:noFill/>
                </a:ln>
                <a:solidFill>
                  <a:schemeClr val="tx1"/>
                </a:solidFill>
                <a:effectLst/>
                <a:latin typeface="Arial" panose="020B0604020202020204" pitchFamily="34" charset="0"/>
                <a:cs typeface="+mj-cs"/>
              </a:rPr>
              <a:t> MOVEit Transfer </a:t>
            </a:r>
            <a:r>
              <a:rPr kumimoji="0" lang="ar-EG" altLang="en-US" sz="2000" b="1" i="0" u="none" strike="noStrike" cap="none" normalizeH="0" baseline="0" dirty="0">
                <a:ln>
                  <a:noFill/>
                </a:ln>
                <a:solidFill>
                  <a:schemeClr val="tx1"/>
                </a:solidFill>
                <a:effectLst/>
                <a:latin typeface="Arial" panose="020B0604020202020204" pitchFamily="34" charset="0"/>
                <a:cs typeface="+mj-cs"/>
              </a:rPr>
              <a:t>(</a:t>
            </a:r>
            <a:r>
              <a:rPr kumimoji="0" lang="ar-SA" altLang="en-US" sz="2000" b="1" i="0" u="none" strike="noStrike" cap="none" normalizeH="0" baseline="0" dirty="0">
                <a:ln>
                  <a:noFill/>
                </a:ln>
                <a:solidFill>
                  <a:schemeClr val="tx1"/>
                </a:solidFill>
                <a:effectLst/>
                <a:latin typeface="Arial" panose="020B0604020202020204" pitchFamily="34" charset="0"/>
                <a:cs typeface="+mj-cs"/>
              </a:rPr>
              <a:t>عام 2023) – </a:t>
            </a:r>
            <a:r>
              <a:rPr lang="ar-EG" sz="2000" b="1" dirty="0">
                <a:solidFill>
                  <a:srgbClr val="00B050"/>
                </a:solidFill>
              </a:rPr>
              <a:t>أحد أكبر الهجمات السيبرانية في التاريخ</a:t>
            </a:r>
            <a:endParaRPr kumimoji="0" lang="en-US" altLang="en-US" sz="2000" b="1" i="0" u="none" strike="noStrike" cap="none" normalizeH="0" baseline="0" dirty="0">
              <a:ln>
                <a:noFill/>
              </a:ln>
              <a:solidFill>
                <a:srgbClr val="00B050"/>
              </a:solidFill>
              <a:effectLst/>
              <a:cs typeface="+mj-cs"/>
            </a:endParaRPr>
          </a:p>
          <a:p>
            <a:pPr marL="0" marR="0" lvl="0" indent="0" algn="r" defTabSz="914400" rtl="1" eaLnBrk="0" fontAlgn="base" latinLnBrk="0" hangingPunct="0">
              <a:lnSpc>
                <a:spcPct val="150000"/>
              </a:lnSpc>
              <a:spcBef>
                <a:spcPct val="0"/>
              </a:spcBef>
              <a:spcAft>
                <a:spcPct val="0"/>
              </a:spcAft>
              <a:buClrTx/>
              <a:buSzTx/>
              <a:buFontTx/>
              <a:buNone/>
              <a:tabLst/>
            </a:pPr>
            <a:r>
              <a:rPr kumimoji="0" lang="ar-SA" altLang="en-US" sz="2000" b="0" i="0" u="none" strike="noStrike" cap="none" normalizeH="0" baseline="0" dirty="0">
                <a:ln>
                  <a:noFill/>
                </a:ln>
                <a:solidFill>
                  <a:schemeClr val="tx1"/>
                </a:solidFill>
                <a:effectLst/>
                <a:latin typeface="Arial" panose="020B0604020202020204" pitchFamily="34" charset="0"/>
                <a:cs typeface="+mj-cs"/>
              </a:rPr>
              <a:t>استغلت عصابة الفدية الروسية الشهيرة</a:t>
            </a:r>
            <a:r>
              <a:rPr kumimoji="0" lang="en-US" altLang="en-US" sz="2000" b="0" i="0" u="none" strike="noStrike" cap="none" normalizeH="0" baseline="0" dirty="0">
                <a:ln>
                  <a:noFill/>
                </a:ln>
                <a:solidFill>
                  <a:schemeClr val="tx1"/>
                </a:solidFill>
                <a:effectLst/>
                <a:latin typeface="Arial" panose="020B0604020202020204" pitchFamily="34" charset="0"/>
                <a:cs typeface="+mj-cs"/>
              </a:rPr>
              <a:t> "</a:t>
            </a:r>
            <a:r>
              <a:rPr kumimoji="0" lang="en-US" altLang="en-US" sz="2000" b="1" i="0" u="none" strike="noStrike" cap="none" normalizeH="0" baseline="0" dirty="0">
                <a:ln>
                  <a:noFill/>
                </a:ln>
                <a:solidFill>
                  <a:schemeClr val="tx2">
                    <a:lumMod val="75000"/>
                    <a:lumOff val="25000"/>
                  </a:schemeClr>
                </a:solidFill>
                <a:effectLst/>
                <a:latin typeface="Arial" panose="020B0604020202020204" pitchFamily="34" charset="0"/>
                <a:cs typeface="+mj-cs"/>
              </a:rPr>
              <a:t>Clop</a:t>
            </a:r>
            <a:r>
              <a:rPr kumimoji="0" lang="en-US" altLang="en-US" sz="2000" b="0" i="0" u="none" strike="noStrike" cap="none" normalizeH="0" baseline="0" dirty="0">
                <a:ln>
                  <a:noFill/>
                </a:ln>
                <a:solidFill>
                  <a:schemeClr val="tx1"/>
                </a:solidFill>
                <a:effectLst/>
                <a:latin typeface="Arial" panose="020B0604020202020204" pitchFamily="34" charset="0"/>
                <a:cs typeface="+mj-cs"/>
              </a:rPr>
              <a:t>" </a:t>
            </a:r>
            <a:r>
              <a:rPr kumimoji="0" lang="ar-SA" altLang="en-US" sz="2000" b="0" i="0" u="none" strike="noStrike" cap="none" normalizeH="0" baseline="0" dirty="0">
                <a:ln>
                  <a:noFill/>
                </a:ln>
                <a:solidFill>
                  <a:schemeClr val="tx1"/>
                </a:solidFill>
                <a:effectLst/>
                <a:latin typeface="Arial" panose="020B0604020202020204" pitchFamily="34" charset="0"/>
                <a:cs typeface="+mj-cs"/>
              </a:rPr>
              <a:t>ثغرة حقن وقصور في رفع/نقل الملفات داخل </a:t>
            </a:r>
            <a:r>
              <a:rPr kumimoji="0" lang="ar-EG" altLang="en-US" sz="2000" b="0" i="0" u="none" strike="noStrike" cap="none" normalizeH="0" baseline="0" dirty="0">
                <a:ln>
                  <a:noFill/>
                </a:ln>
                <a:solidFill>
                  <a:schemeClr val="tx1"/>
                </a:solidFill>
                <a:effectLst/>
                <a:latin typeface="Arial" panose="020B0604020202020204" pitchFamily="34" charset="0"/>
                <a:cs typeface="+mj-cs"/>
              </a:rPr>
              <a:t>ال</a:t>
            </a:r>
            <a:r>
              <a:rPr kumimoji="0" lang="ar-SA" altLang="en-US" sz="2000" b="0" i="0" u="none" strike="noStrike" cap="none" normalizeH="0" baseline="0" dirty="0">
                <a:ln>
                  <a:noFill/>
                </a:ln>
                <a:solidFill>
                  <a:schemeClr val="tx1"/>
                </a:solidFill>
                <a:effectLst/>
                <a:latin typeface="Arial" panose="020B0604020202020204" pitchFamily="34" charset="0"/>
                <a:cs typeface="+mj-cs"/>
              </a:rPr>
              <a:t>نظام</a:t>
            </a:r>
            <a:r>
              <a:rPr kumimoji="0" lang="ar-EG" altLang="en-US" sz="2000" b="0" i="0" u="none" strike="noStrike" cap="none" normalizeH="0" baseline="0" dirty="0">
                <a:ln>
                  <a:noFill/>
                </a:ln>
                <a:solidFill>
                  <a:schemeClr val="tx1"/>
                </a:solidFill>
                <a:effectLst/>
                <a:latin typeface="Arial" panose="020B0604020202020204" pitchFamily="34" charset="0"/>
                <a:cs typeface="+mj-cs"/>
              </a:rPr>
              <a:t> </a:t>
            </a:r>
            <a:r>
              <a:rPr kumimoji="0" lang="en-US" altLang="en-US" sz="2000" b="0" i="0" u="none" strike="noStrike" cap="none" normalizeH="0" baseline="0" dirty="0">
                <a:ln>
                  <a:noFill/>
                </a:ln>
                <a:solidFill>
                  <a:schemeClr val="tx1"/>
                </a:solidFill>
                <a:effectLst/>
                <a:latin typeface="Arial" panose="020B0604020202020204" pitchFamily="34" charset="0"/>
                <a:cs typeface="+mj-cs"/>
              </a:rPr>
              <a:t> [</a:t>
            </a:r>
            <a:r>
              <a:rPr lang="en-US" altLang="en-US" sz="2000" dirty="0">
                <a:latin typeface="Arial" panose="020B0604020202020204" pitchFamily="34" charset="0"/>
                <a:cs typeface="+mj-cs"/>
                <a:hlinkClick r:id="rId2" action="ppaction://hlinkpres?slideindex=1&amp;slidetitle=" tooltip="https://www.aljazeera.net/tech/2023/12/26/%D8%A3%D9%83%D8%A8%D8%B1-%D8%A7%D8%AE%D8%AA%D8%B1%D8%A7%D9%82-%D9%81%D9%8A-2023-%D9%83%D9%8A%D9%81-%D8%AA%D8%B3%D8%A8%D8%A8%D8%AA-%D8%AB%D8%BA%D8%B1%D8%A9-%D8%A3%D9%85%D9%86%D9%8A%D8%A9-%D9%81%D9%8A"/>
              </a:rPr>
              <a:t>aljazeera</a:t>
            </a:r>
            <a:r>
              <a:rPr lang="en-US" altLang="en-US" sz="2000" dirty="0">
                <a:latin typeface="Arial" panose="020B0604020202020204" pitchFamily="34" charset="0"/>
                <a:cs typeface="+mj-cs"/>
              </a:rPr>
              <a:t> </a:t>
            </a:r>
            <a:r>
              <a:rPr kumimoji="0" lang="en-US" altLang="en-US" sz="2000" b="0" i="0" u="none" strike="noStrike" cap="none" normalizeH="0" baseline="0" dirty="0">
                <a:ln>
                  <a:noFill/>
                </a:ln>
                <a:solidFill>
                  <a:schemeClr val="tx1"/>
                </a:solidFill>
                <a:effectLst/>
                <a:latin typeface="Arial" panose="020B0604020202020204" pitchFamily="34" charset="0"/>
                <a:cs typeface="+mj-cs"/>
              </a:rPr>
              <a:t>, </a:t>
            </a:r>
            <a:r>
              <a:rPr kumimoji="0" lang="en-US" altLang="en-US" sz="2000" b="0" i="0" u="none" strike="noStrike" cap="none" normalizeH="0" baseline="0" dirty="0">
                <a:ln>
                  <a:noFill/>
                </a:ln>
                <a:solidFill>
                  <a:schemeClr val="tx1"/>
                </a:solidFill>
                <a:effectLst/>
                <a:latin typeface="Arial" panose="020B0604020202020204" pitchFamily="34" charset="0"/>
                <a:cs typeface="+mj-cs"/>
                <a:hlinkClick r:id="rId2" action="ppaction://hlinkpres?slideindex=1&amp;slidetitle=" tooltip="https://www.alarabiya.net/technology/cybersecurity-privacy/2024/12/10/%D8%AB%D8%BA%D8%B1%D8%A9-%D8%AE%D8%B7%D9%8A%D8%B1%D8%A9-%D9%81%D9%8A-%D8%A3%D8%AF%D9%88%D8%A7%D8%AA-%D9%86%D9%82%D9%84-%D8%A7%D9%84%D9%85%D9%84%D9%81%D8%A7%D8%AA-%D8%AA%D8%B9%D8%B1%D8%B6"/>
              </a:rPr>
              <a:t>alarabiya</a:t>
            </a:r>
            <a:r>
              <a:rPr kumimoji="0" lang="en-US" altLang="en-US" sz="2000" b="0" i="0" u="none" strike="noStrike" cap="none" normalizeH="0" baseline="0" dirty="0">
                <a:ln>
                  <a:noFill/>
                </a:ln>
                <a:solidFill>
                  <a:schemeClr val="tx1"/>
                </a:solidFill>
                <a:effectLst/>
                <a:latin typeface="Arial" panose="020B0604020202020204" pitchFamily="34" charset="0"/>
                <a:cs typeface="+mj-cs"/>
              </a:rPr>
              <a:t>]</a:t>
            </a:r>
            <a:endParaRPr kumimoji="0" lang="en-US" altLang="en-US" sz="2000" b="1" i="0" u="none" strike="noStrike" cap="none" normalizeH="0" baseline="0" dirty="0">
              <a:ln>
                <a:noFill/>
              </a:ln>
              <a:solidFill>
                <a:schemeClr val="tx2">
                  <a:lumMod val="90000"/>
                  <a:lumOff val="10000"/>
                </a:schemeClr>
              </a:solidFill>
              <a:effectLst/>
              <a:cs typeface="+mj-cs"/>
            </a:endParaRPr>
          </a:p>
          <a:p>
            <a:pPr marL="342900" marR="0" lvl="0" indent="-342900" algn="r" defTabSz="914400" rtl="1"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ar-SA" altLang="en-US" sz="2000" b="1" i="0" u="none" strike="noStrike" cap="none" normalizeH="0" baseline="0" dirty="0">
                <a:ln>
                  <a:noFill/>
                </a:ln>
                <a:solidFill>
                  <a:schemeClr val="tx1"/>
                </a:solidFill>
                <a:latin typeface="Arial" panose="020B0604020202020204" pitchFamily="34" charset="0"/>
                <a:cs typeface="+mj-cs"/>
              </a:rPr>
              <a:t>حجم الضرر</a:t>
            </a:r>
            <a:r>
              <a:rPr kumimoji="0" lang="en-US" altLang="en-US" sz="2000" b="1" i="0" u="none" strike="noStrike" cap="none" normalizeH="0" baseline="0" dirty="0">
                <a:ln>
                  <a:noFill/>
                </a:ln>
                <a:solidFill>
                  <a:schemeClr val="tx1"/>
                </a:solidFill>
                <a:effectLst/>
                <a:latin typeface="Arial" panose="020B0604020202020204" pitchFamily="34" charset="0"/>
                <a:cs typeface="+mj-cs"/>
              </a:rPr>
              <a:t>:</a:t>
            </a:r>
            <a:r>
              <a:rPr kumimoji="0" lang="ar-EG" altLang="en-US" sz="2000" b="1" i="0" u="none" strike="noStrike" cap="none" normalizeH="0" baseline="0" dirty="0">
                <a:ln>
                  <a:noFill/>
                </a:ln>
                <a:solidFill>
                  <a:schemeClr val="tx1"/>
                </a:solidFill>
                <a:effectLst/>
                <a:latin typeface="Arial" panose="020B0604020202020204" pitchFamily="34" charset="0"/>
                <a:cs typeface="+mj-cs"/>
              </a:rPr>
              <a:t> </a:t>
            </a:r>
            <a:r>
              <a:rPr kumimoji="0" lang="ar-SA" altLang="en-US" sz="2000" b="0" i="0" u="none" strike="noStrike" cap="none" normalizeH="0" baseline="0" dirty="0">
                <a:ln>
                  <a:noFill/>
                </a:ln>
                <a:solidFill>
                  <a:schemeClr val="tx1"/>
                </a:solidFill>
                <a:effectLst/>
                <a:latin typeface="Arial" panose="020B0604020202020204" pitchFamily="34" charset="0"/>
                <a:cs typeface="+mj-cs"/>
              </a:rPr>
              <a:t>تم اختراق بيانات أكثر من</a:t>
            </a:r>
            <a:r>
              <a:rPr kumimoji="0" lang="en-US" altLang="en-US" sz="2000" b="0" i="0" u="none" strike="noStrike" cap="none" normalizeH="0" baseline="0" dirty="0">
                <a:ln>
                  <a:noFill/>
                </a:ln>
                <a:solidFill>
                  <a:schemeClr val="tx1"/>
                </a:solidFill>
                <a:effectLst/>
                <a:latin typeface="Arial" panose="020B0604020202020204" pitchFamily="34" charset="0"/>
                <a:cs typeface="+mj-cs"/>
              </a:rPr>
              <a:t> </a:t>
            </a:r>
            <a:r>
              <a:rPr kumimoji="0" lang="en-US" altLang="en-US" sz="2000" b="1" i="0" u="none" strike="noStrike" cap="none" normalizeH="0" baseline="0" dirty="0">
                <a:ln>
                  <a:noFill/>
                </a:ln>
                <a:solidFill>
                  <a:srgbClr val="FF0000"/>
                </a:solidFill>
                <a:effectLst/>
                <a:latin typeface="Arial" panose="020B0604020202020204" pitchFamily="34" charset="0"/>
                <a:cs typeface="+mj-cs"/>
              </a:rPr>
              <a:t>2,600</a:t>
            </a:r>
            <a:r>
              <a:rPr kumimoji="0" lang="en-US" altLang="en-US" sz="2000" b="1" i="0" u="none" strike="noStrike" cap="none" normalizeH="0" baseline="0" dirty="0">
                <a:ln>
                  <a:noFill/>
                </a:ln>
                <a:solidFill>
                  <a:schemeClr val="tx1"/>
                </a:solidFill>
                <a:effectLst/>
                <a:latin typeface="Arial" panose="020B0604020202020204" pitchFamily="34" charset="0"/>
                <a:cs typeface="+mj-cs"/>
              </a:rPr>
              <a:t> </a:t>
            </a:r>
            <a:r>
              <a:rPr kumimoji="0" lang="ar-SA" altLang="en-US" sz="2000" b="1" i="0" u="none" strike="noStrike" cap="none" normalizeH="0" baseline="0" dirty="0">
                <a:ln>
                  <a:noFill/>
                </a:ln>
                <a:solidFill>
                  <a:schemeClr val="accent5"/>
                </a:solidFill>
                <a:effectLst/>
                <a:latin typeface="Arial" panose="020B0604020202020204" pitchFamily="34" charset="0"/>
                <a:cs typeface="+mj-cs"/>
              </a:rPr>
              <a:t>شركة ومؤسسة حكومية كبرى</a:t>
            </a:r>
            <a:r>
              <a:rPr kumimoji="0" lang="en-US" altLang="en-US" sz="2000" b="0" i="0" u="none" strike="noStrike" cap="none" normalizeH="0" baseline="0" dirty="0">
                <a:ln>
                  <a:noFill/>
                </a:ln>
                <a:solidFill>
                  <a:schemeClr val="accent5"/>
                </a:solidFill>
                <a:effectLst/>
                <a:latin typeface="Arial" panose="020B0604020202020204" pitchFamily="34" charset="0"/>
                <a:cs typeface="+mj-cs"/>
              </a:rPr>
              <a:t> </a:t>
            </a:r>
            <a:r>
              <a:rPr kumimoji="0" lang="ar-SA" altLang="en-US" sz="2000" b="0" i="0" u="none" strike="noStrike" cap="none" normalizeH="0" baseline="0" dirty="0">
                <a:ln>
                  <a:noFill/>
                </a:ln>
                <a:solidFill>
                  <a:schemeClr val="tx1"/>
                </a:solidFill>
                <a:effectLst/>
                <a:latin typeface="Arial" panose="020B0604020202020204" pitchFamily="34" charset="0"/>
                <a:cs typeface="+mj-cs"/>
              </a:rPr>
              <a:t>حول العالم</a:t>
            </a:r>
            <a:r>
              <a:rPr kumimoji="0" lang="en-US" altLang="en-US" sz="2000" b="0" i="0" u="none" strike="noStrike" cap="none" normalizeH="0" baseline="0" dirty="0">
                <a:ln>
                  <a:noFill/>
                </a:ln>
                <a:solidFill>
                  <a:schemeClr val="tx1"/>
                </a:solidFill>
                <a:effectLst/>
                <a:latin typeface="Arial" panose="020B0604020202020204" pitchFamily="34" charset="0"/>
                <a:cs typeface="+mj-cs"/>
              </a:rPr>
              <a:t>.</a:t>
            </a:r>
          </a:p>
          <a:p>
            <a:pPr marL="342900" marR="0" lvl="0" indent="-342900" algn="r" defTabSz="914400" rtl="1"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ar-SA" altLang="en-US" sz="2000" b="1" i="0" u="none" strike="noStrike" cap="none" normalizeH="0" baseline="0" dirty="0">
                <a:ln>
                  <a:noFill/>
                </a:ln>
                <a:solidFill>
                  <a:schemeClr val="tx1"/>
                </a:solidFill>
                <a:effectLst/>
                <a:latin typeface="Arial" panose="020B0604020202020204" pitchFamily="34" charset="0"/>
                <a:cs typeface="+mj-cs"/>
              </a:rPr>
              <a:t>عدد الضحايا</a:t>
            </a:r>
            <a:r>
              <a:rPr kumimoji="0" lang="en-US" altLang="en-US" sz="2000" b="1" i="0" u="none" strike="noStrike" cap="none" normalizeH="0" baseline="0" dirty="0">
                <a:ln>
                  <a:noFill/>
                </a:ln>
                <a:solidFill>
                  <a:schemeClr val="tx1"/>
                </a:solidFill>
                <a:effectLst/>
                <a:latin typeface="Arial" panose="020B0604020202020204" pitchFamily="34" charset="0"/>
                <a:cs typeface="+mj-cs"/>
              </a:rPr>
              <a:t>:</a:t>
            </a:r>
            <a:r>
              <a:rPr kumimoji="0" lang="ar-EG" altLang="en-US" sz="2000" b="0" i="0" u="none" strike="noStrike" cap="none" normalizeH="0" baseline="0" dirty="0">
                <a:ln>
                  <a:noFill/>
                </a:ln>
                <a:solidFill>
                  <a:schemeClr val="tx1"/>
                </a:solidFill>
                <a:effectLst/>
                <a:latin typeface="Arial" panose="020B0604020202020204" pitchFamily="34" charset="0"/>
                <a:cs typeface="+mj-cs"/>
              </a:rPr>
              <a:t> </a:t>
            </a:r>
            <a:r>
              <a:rPr kumimoji="0" lang="ar-SA" altLang="en-US" sz="2000" b="0" i="0" u="none" strike="noStrike" cap="none" normalizeH="0" baseline="0" dirty="0">
                <a:ln>
                  <a:noFill/>
                </a:ln>
                <a:solidFill>
                  <a:schemeClr val="tx1"/>
                </a:solidFill>
                <a:effectLst/>
                <a:latin typeface="Arial" panose="020B0604020202020204" pitchFamily="34" charset="0"/>
                <a:cs typeface="+mj-cs"/>
              </a:rPr>
              <a:t>تسريب بيانات الحسابات والمعلومات الحساسة لقرابة</a:t>
            </a:r>
            <a:r>
              <a:rPr kumimoji="0" lang="en-US" altLang="en-US" sz="2000" b="0" i="0" u="none" strike="noStrike" cap="none" normalizeH="0" baseline="0" dirty="0">
                <a:ln>
                  <a:noFill/>
                </a:ln>
                <a:solidFill>
                  <a:schemeClr val="tx1"/>
                </a:solidFill>
                <a:effectLst/>
                <a:latin typeface="Arial" panose="020B0604020202020204" pitchFamily="34" charset="0"/>
                <a:cs typeface="+mj-cs"/>
              </a:rPr>
              <a:t> </a:t>
            </a:r>
            <a:r>
              <a:rPr kumimoji="0" lang="en-US" altLang="en-US" sz="2000" b="1" i="0" u="none" strike="noStrike" cap="none" normalizeH="0" baseline="0" dirty="0">
                <a:ln>
                  <a:noFill/>
                </a:ln>
                <a:solidFill>
                  <a:srgbClr val="FF0000"/>
                </a:solidFill>
                <a:effectLst/>
                <a:latin typeface="Arial" panose="020B0604020202020204" pitchFamily="34" charset="0"/>
                <a:cs typeface="+mj-cs"/>
              </a:rPr>
              <a:t>90 </a:t>
            </a:r>
            <a:r>
              <a:rPr kumimoji="0" lang="ar-SA" altLang="en-US" sz="2000" b="1" i="0" u="none" strike="noStrike" cap="none" normalizeH="0" baseline="0" dirty="0">
                <a:ln>
                  <a:noFill/>
                </a:ln>
                <a:solidFill>
                  <a:srgbClr val="FF0000"/>
                </a:solidFill>
                <a:effectLst/>
                <a:latin typeface="Arial" panose="020B0604020202020204" pitchFamily="34" charset="0"/>
                <a:cs typeface="+mj-cs"/>
              </a:rPr>
              <a:t>مليون شخص</a:t>
            </a:r>
            <a:r>
              <a:rPr kumimoji="0" lang="en-US" altLang="en-US" sz="2000" b="0" i="0" u="none" strike="noStrike" cap="none" normalizeH="0" baseline="0" dirty="0">
                <a:ln>
                  <a:noFill/>
                </a:ln>
                <a:solidFill>
                  <a:schemeClr val="tx1"/>
                </a:solidFill>
                <a:effectLst/>
                <a:latin typeface="Arial" panose="020B0604020202020204" pitchFamily="34" charset="0"/>
                <a:cs typeface="+mj-cs"/>
              </a:rPr>
              <a:t>.</a:t>
            </a:r>
          </a:p>
          <a:p>
            <a:pPr marL="342900" marR="0" lvl="0" indent="-342900" algn="r" defTabSz="914400" rtl="1"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ar-SA" altLang="en-US" sz="2000" b="1" i="0" u="none" strike="noStrike" cap="none" normalizeH="0" baseline="0" dirty="0">
                <a:ln>
                  <a:noFill/>
                </a:ln>
                <a:solidFill>
                  <a:schemeClr val="tx1"/>
                </a:solidFill>
                <a:effectLst/>
                <a:latin typeface="Arial" panose="020B0604020202020204" pitchFamily="34" charset="0"/>
                <a:cs typeface="+mj-cs"/>
              </a:rPr>
              <a:t>أبرز الجهات المتضررة التابعة لها</a:t>
            </a:r>
            <a:r>
              <a:rPr kumimoji="0" lang="en-US" altLang="en-US" sz="2000" b="1" i="0" u="none" strike="noStrike" cap="none" normalizeH="0" baseline="0" dirty="0">
                <a:ln>
                  <a:noFill/>
                </a:ln>
                <a:solidFill>
                  <a:schemeClr val="tx1"/>
                </a:solidFill>
                <a:effectLst/>
                <a:latin typeface="Arial" panose="020B0604020202020204" pitchFamily="34" charset="0"/>
                <a:cs typeface="+mj-cs"/>
              </a:rPr>
              <a:t>:</a:t>
            </a:r>
            <a:r>
              <a:rPr kumimoji="0" lang="ar-EG" altLang="en-US" sz="2000" b="1" i="0" u="none" strike="noStrike" cap="none" normalizeH="0" baseline="0" dirty="0">
                <a:ln>
                  <a:noFill/>
                </a:ln>
                <a:solidFill>
                  <a:schemeClr val="tx1"/>
                </a:solidFill>
                <a:effectLst/>
                <a:latin typeface="Arial" panose="020B0604020202020204" pitchFamily="34" charset="0"/>
                <a:cs typeface="+mj-cs"/>
              </a:rPr>
              <a:t> </a:t>
            </a:r>
            <a:r>
              <a:rPr kumimoji="0" lang="en-US" altLang="en-US" sz="2000" b="0" i="0" u="none" strike="noStrike" cap="none" normalizeH="0" baseline="0" dirty="0">
                <a:ln>
                  <a:noFill/>
                </a:ln>
                <a:solidFill>
                  <a:schemeClr val="tx1"/>
                </a:solidFill>
                <a:effectLst/>
                <a:latin typeface="Arial" panose="020B0604020202020204" pitchFamily="34" charset="0"/>
                <a:cs typeface="+mj-cs"/>
              </a:rPr>
              <a:t> </a:t>
            </a:r>
            <a:r>
              <a:rPr kumimoji="0" lang="ar-SA" altLang="en-US" sz="2000" b="0" i="0" u="none" strike="noStrike" cap="none" normalizeH="0" baseline="0" dirty="0">
                <a:ln>
                  <a:noFill/>
                </a:ln>
                <a:solidFill>
                  <a:schemeClr val="tx1"/>
                </a:solidFill>
                <a:effectLst/>
                <a:latin typeface="Arial" panose="020B0604020202020204" pitchFamily="34" charset="0"/>
                <a:cs typeface="+mj-cs"/>
              </a:rPr>
              <a:t>وزارة الطاقة الأمريكية، كبرى شركات المحاسبة الأربعة</a:t>
            </a:r>
            <a:r>
              <a:rPr kumimoji="0" lang="en-US" altLang="en-US" sz="2000" b="0" i="0" u="none" strike="noStrike" cap="none" normalizeH="0" baseline="0" dirty="0">
                <a:ln>
                  <a:noFill/>
                </a:ln>
                <a:solidFill>
                  <a:schemeClr val="tx1"/>
                </a:solidFill>
                <a:effectLst/>
                <a:latin typeface="Arial" panose="020B0604020202020204" pitchFamily="34" charset="0"/>
                <a:cs typeface="+mj-cs"/>
              </a:rPr>
              <a:t> (</a:t>
            </a:r>
            <a:r>
              <a:rPr kumimoji="0" lang="ar-SA" altLang="en-US" sz="2000" b="0" i="0" u="none" strike="noStrike" cap="none" normalizeH="0" baseline="0" dirty="0">
                <a:ln>
                  <a:noFill/>
                </a:ln>
                <a:solidFill>
                  <a:schemeClr val="tx1"/>
                </a:solidFill>
                <a:effectLst/>
                <a:latin typeface="Arial" panose="020B0604020202020204" pitchFamily="34" charset="0"/>
                <a:cs typeface="+mj-cs"/>
              </a:rPr>
              <a:t>مثل</a:t>
            </a:r>
            <a:r>
              <a:rPr kumimoji="0" lang="en-US" altLang="en-US" sz="2000" b="0" i="0" u="none" strike="noStrike" cap="none" normalizeH="0" baseline="0" dirty="0">
                <a:ln>
                  <a:noFill/>
                </a:ln>
                <a:solidFill>
                  <a:schemeClr val="tx1"/>
                </a:solidFill>
                <a:effectLst/>
                <a:latin typeface="Arial" panose="020B0604020202020204" pitchFamily="34" charset="0"/>
                <a:cs typeface="+mj-cs"/>
              </a:rPr>
              <a:t> EY </a:t>
            </a:r>
            <a:r>
              <a:rPr kumimoji="0" lang="ar-SA" altLang="en-US" sz="2000" b="0" i="0" u="none" strike="noStrike" cap="none" normalizeH="0" baseline="0" dirty="0">
                <a:ln>
                  <a:noFill/>
                </a:ln>
                <a:solidFill>
                  <a:schemeClr val="tx1"/>
                </a:solidFill>
                <a:effectLst/>
                <a:latin typeface="Arial" panose="020B0604020202020204" pitchFamily="34" charset="0"/>
                <a:cs typeface="+mj-cs"/>
              </a:rPr>
              <a:t>و</a:t>
            </a:r>
            <a:r>
              <a:rPr kumimoji="0" lang="en-US" altLang="en-US" sz="2000" b="0" i="0" u="none" strike="noStrike" cap="none" normalizeH="0" baseline="0" dirty="0">
                <a:ln>
                  <a:noFill/>
                </a:ln>
                <a:solidFill>
                  <a:schemeClr val="tx1"/>
                </a:solidFill>
                <a:effectLst/>
                <a:latin typeface="Arial" panose="020B0604020202020204" pitchFamily="34" charset="0"/>
                <a:cs typeface="+mj-cs"/>
              </a:rPr>
              <a:t>Deloitte)، </a:t>
            </a:r>
            <a:r>
              <a:rPr kumimoji="0" lang="ar-SA" altLang="en-US" sz="2000" b="0" i="0" u="none" strike="noStrike" cap="none" normalizeH="0" baseline="0" dirty="0">
                <a:ln>
                  <a:noFill/>
                </a:ln>
                <a:solidFill>
                  <a:schemeClr val="tx1"/>
                </a:solidFill>
                <a:effectLst/>
                <a:latin typeface="Arial" panose="020B0604020202020204" pitchFamily="34" charset="0"/>
                <a:cs typeface="+mj-cs"/>
              </a:rPr>
              <a:t>والخطوط الجوية البريطانية، ونظام التقاعد الأكبر في </a:t>
            </a:r>
            <a:r>
              <a:rPr kumimoji="0" lang="ar-SA" altLang="en-US" sz="2000" b="1" i="0" u="none" strike="noStrike" cap="none" normalizeH="0" baseline="0" dirty="0">
                <a:ln>
                  <a:noFill/>
                </a:ln>
                <a:solidFill>
                  <a:srgbClr val="FF0000"/>
                </a:solidFill>
                <a:effectLst/>
                <a:latin typeface="Arial" panose="020B0604020202020204" pitchFamily="34" charset="0"/>
                <a:cs typeface="+mj-cs"/>
              </a:rPr>
              <a:t>أمريكا</a:t>
            </a:r>
            <a:r>
              <a:rPr kumimoji="0" lang="en-US" altLang="en-US" sz="2000" b="0" i="0" u="none" strike="noStrike" cap="none" normalizeH="0" baseline="0" dirty="0">
                <a:ln>
                  <a:noFill/>
                </a:ln>
                <a:solidFill>
                  <a:schemeClr val="tx1"/>
                </a:solidFill>
                <a:effectLst/>
                <a:latin typeface="Arial" panose="020B0604020202020204" pitchFamily="34" charset="0"/>
                <a:cs typeface="+mj-cs"/>
              </a:rPr>
              <a:t>.</a:t>
            </a:r>
          </a:p>
          <a:p>
            <a:pPr marL="342900" marR="0" lvl="0" indent="-342900" algn="r" defTabSz="914400" rtl="1"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ar-SA" altLang="en-US" sz="2000" b="1" i="0" u="none" strike="noStrike" cap="none" normalizeH="0" baseline="0" dirty="0">
                <a:ln>
                  <a:noFill/>
                </a:ln>
                <a:solidFill>
                  <a:schemeClr val="tx1"/>
                </a:solidFill>
                <a:effectLst/>
                <a:latin typeface="Arial" panose="020B0604020202020204" pitchFamily="34" charset="0"/>
                <a:cs typeface="+mj-cs"/>
              </a:rPr>
              <a:t>الخسائر المالية</a:t>
            </a:r>
            <a:r>
              <a:rPr kumimoji="0" lang="en-US" altLang="en-US" sz="2000" b="1" i="0" u="none" strike="noStrike" cap="none" normalizeH="0" baseline="0" dirty="0">
                <a:ln>
                  <a:noFill/>
                </a:ln>
                <a:solidFill>
                  <a:schemeClr val="tx1"/>
                </a:solidFill>
                <a:effectLst/>
                <a:latin typeface="Arial" panose="020B0604020202020204" pitchFamily="34" charset="0"/>
                <a:cs typeface="+mj-cs"/>
              </a:rPr>
              <a:t>:</a:t>
            </a:r>
            <a:r>
              <a:rPr kumimoji="0" lang="ar-EG" altLang="en-US" sz="2000" b="1" i="0" u="none" strike="noStrike" cap="none" normalizeH="0" baseline="0" dirty="0">
                <a:ln>
                  <a:noFill/>
                </a:ln>
                <a:solidFill>
                  <a:schemeClr val="tx1"/>
                </a:solidFill>
                <a:effectLst/>
                <a:latin typeface="Arial" panose="020B0604020202020204" pitchFamily="34" charset="0"/>
                <a:cs typeface="+mj-cs"/>
              </a:rPr>
              <a:t> </a:t>
            </a:r>
            <a:r>
              <a:rPr kumimoji="0" lang="ar-SA" altLang="en-US" sz="2000" b="0" i="0" u="none" strike="noStrike" cap="none" normalizeH="0" baseline="0" dirty="0">
                <a:ln>
                  <a:noFill/>
                </a:ln>
                <a:solidFill>
                  <a:schemeClr val="tx1"/>
                </a:solidFill>
                <a:effectLst/>
                <a:latin typeface="Arial" panose="020B0604020202020204" pitchFamily="34" charset="0"/>
                <a:cs typeface="+mj-cs"/>
              </a:rPr>
              <a:t>قُدرت التكلفة الإجمالية لعمليات معالجة وتطهير الأنظمة وتعويض الضحايا </a:t>
            </a:r>
            <a:r>
              <a:rPr kumimoji="0" lang="ar-SA" altLang="en-US" sz="2000" b="1" i="0" u="none" strike="noStrike" cap="none" normalizeH="0" baseline="0" dirty="0">
                <a:ln>
                  <a:noFill/>
                </a:ln>
                <a:solidFill>
                  <a:srgbClr val="0070C0"/>
                </a:solidFill>
                <a:effectLst/>
                <a:latin typeface="Arial" panose="020B0604020202020204" pitchFamily="34" charset="0"/>
                <a:cs typeface="+mj-cs"/>
              </a:rPr>
              <a:t>بمليارات الدولارات</a:t>
            </a:r>
            <a:r>
              <a:rPr kumimoji="0" lang="en-US" altLang="en-US" sz="2000" b="1" i="0" u="none" strike="noStrike" cap="none" normalizeH="0" baseline="0" dirty="0">
                <a:ln>
                  <a:noFill/>
                </a:ln>
                <a:solidFill>
                  <a:srgbClr val="0070C0"/>
                </a:solidFill>
                <a:effectLst/>
                <a:latin typeface="Arial" panose="020B0604020202020204" pitchFamily="34" charset="0"/>
                <a:cs typeface="+mj-cs"/>
              </a:rPr>
              <a:t>   </a:t>
            </a:r>
            <a:r>
              <a:rPr kumimoji="0" lang="en-US" altLang="en-US" sz="2000" b="0" i="0" u="none" strike="noStrike" cap="none" normalizeH="0" baseline="0" dirty="0">
                <a:ln>
                  <a:noFill/>
                </a:ln>
                <a:solidFill>
                  <a:schemeClr val="tx1"/>
                </a:solidFill>
                <a:effectLst/>
                <a:latin typeface="Arial" panose="020B0604020202020204" pitchFamily="34" charset="0"/>
                <a:cs typeface="+mj-cs"/>
              </a:rPr>
              <a:t>. [</a:t>
            </a:r>
            <a:r>
              <a:rPr kumimoji="0" lang="en-US" altLang="en-US" sz="2000" b="0" i="0" u="none" strike="noStrike" cap="none" normalizeH="0" baseline="0" dirty="0">
                <a:ln>
                  <a:noFill/>
                </a:ln>
                <a:solidFill>
                  <a:schemeClr val="tx1"/>
                </a:solidFill>
                <a:effectLst/>
                <a:latin typeface="Arial" panose="020B0604020202020204" pitchFamily="34" charset="0"/>
                <a:cs typeface="+mj-cs"/>
                <a:hlinkClick r:id="rId3"/>
              </a:rPr>
              <a:t>1</a:t>
            </a:r>
            <a:r>
              <a:rPr kumimoji="0" lang="en-US" altLang="en-US" sz="2000" b="0" i="0" u="none" strike="noStrike" cap="none" normalizeH="0" baseline="0" dirty="0">
                <a:ln>
                  <a:noFill/>
                </a:ln>
                <a:solidFill>
                  <a:schemeClr val="tx1"/>
                </a:solidFill>
                <a:effectLst/>
                <a:latin typeface="Arial" panose="020B0604020202020204" pitchFamily="34" charset="0"/>
                <a:cs typeface="+mj-cs"/>
              </a:rPr>
              <a:t>, </a:t>
            </a:r>
            <a:r>
              <a:rPr kumimoji="0" lang="en-US" altLang="en-US" sz="2000" b="0" i="0" u="none" strike="noStrike" cap="none" normalizeH="0" baseline="0" dirty="0">
                <a:ln>
                  <a:noFill/>
                </a:ln>
                <a:solidFill>
                  <a:schemeClr val="tx1"/>
                </a:solidFill>
                <a:effectLst/>
                <a:latin typeface="Arial" panose="020B0604020202020204" pitchFamily="34" charset="0"/>
                <a:cs typeface="+mj-cs"/>
                <a:hlinkClick r:id="rId4"/>
              </a:rPr>
              <a:t>2</a:t>
            </a:r>
            <a:r>
              <a:rPr kumimoji="0" lang="en-US" altLang="en-US" sz="2000" b="0" i="0" u="none" strike="noStrike" cap="none" normalizeH="0" baseline="0" dirty="0">
                <a:ln>
                  <a:noFill/>
                </a:ln>
                <a:solidFill>
                  <a:schemeClr val="tx1"/>
                </a:solidFill>
                <a:effectLst/>
                <a:latin typeface="Arial" panose="020B0604020202020204" pitchFamily="34" charset="0"/>
                <a:cs typeface="+mj-cs"/>
              </a:rPr>
              <a:t>, </a:t>
            </a:r>
            <a:r>
              <a:rPr kumimoji="0" lang="en-US" altLang="en-US" sz="2000" b="0" i="0" u="none" strike="noStrike" cap="none" normalizeH="0" baseline="0" dirty="0">
                <a:ln>
                  <a:noFill/>
                </a:ln>
                <a:solidFill>
                  <a:schemeClr val="tx1"/>
                </a:solidFill>
                <a:effectLst/>
                <a:latin typeface="Arial" panose="020B0604020202020204" pitchFamily="34" charset="0"/>
                <a:cs typeface="+mj-cs"/>
                <a:hlinkClick r:id="rId5"/>
              </a:rPr>
              <a:t>3</a:t>
            </a:r>
            <a:r>
              <a:rPr kumimoji="0" lang="en-US" altLang="en-US" sz="2000" b="0" i="0" u="none" strike="noStrike" cap="none" normalizeH="0" baseline="0" dirty="0">
                <a:ln>
                  <a:noFill/>
                </a:ln>
                <a:solidFill>
                  <a:schemeClr val="tx1"/>
                </a:solidFill>
                <a:effectLst/>
                <a:latin typeface="Arial" panose="020B0604020202020204" pitchFamily="34" charset="0"/>
                <a:cs typeface="+mj-cs"/>
              </a:rPr>
              <a:t>] </a:t>
            </a:r>
            <a:br>
              <a:rPr kumimoji="0" lang="ar-EG" altLang="en-US" sz="2000" b="0" i="0" u="none" strike="noStrike" cap="none" normalizeH="0" baseline="0" dirty="0">
                <a:ln>
                  <a:noFill/>
                </a:ln>
                <a:solidFill>
                  <a:schemeClr val="tx1"/>
                </a:solidFill>
                <a:effectLst/>
                <a:latin typeface="Arial" panose="020B0604020202020204" pitchFamily="34" charset="0"/>
                <a:cs typeface="+mj-cs"/>
              </a:rPr>
            </a:br>
            <a:br>
              <a:rPr kumimoji="0" lang="ar-EG" altLang="en-US" sz="2000" b="0" i="0" u="none" strike="noStrike" cap="none" normalizeH="0" baseline="0" dirty="0">
                <a:ln>
                  <a:noFill/>
                </a:ln>
                <a:solidFill>
                  <a:schemeClr val="tx1"/>
                </a:solidFill>
                <a:effectLst/>
                <a:latin typeface="Arial" panose="020B0604020202020204" pitchFamily="34" charset="0"/>
                <a:cs typeface="+mj-cs"/>
              </a:rPr>
            </a:br>
            <a:endParaRPr kumimoji="0" lang="en-US" altLang="en-US" sz="2000" b="0" i="0" u="none" strike="noStrike" cap="none" normalizeH="0" baseline="0" dirty="0">
              <a:ln>
                <a:noFill/>
              </a:ln>
              <a:solidFill>
                <a:schemeClr val="tx1"/>
              </a:solidFill>
              <a:effectLst/>
              <a:latin typeface="Arial" panose="020B0604020202020204" pitchFamily="34" charset="0"/>
              <a:cs typeface="+mj-cs"/>
            </a:endParaRPr>
          </a:p>
          <a:p>
            <a:pPr marL="0" marR="0" lvl="0" indent="0" algn="r" defTabSz="914400" rtl="1"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pic>
        <p:nvPicPr>
          <p:cNvPr id="2058" name="Picture 10" descr="Threat Brief - MOVEit Transfer SQL Injection Vulnerabilities: CVE-2023-34362,  CVE-2023-35036 and CVE-2023-35708 (Updated Oct 4)">
            <a:extLst>
              <a:ext uri="{FF2B5EF4-FFF2-40B4-BE49-F238E27FC236}">
                <a16:creationId xmlns:a16="http://schemas.microsoft.com/office/drawing/2014/main" id="{C799C736-558D-4A01-EB57-94FFBCF798FA}"/>
              </a:ext>
            </a:extLst>
          </p:cNvPr>
          <p:cNvPicPr>
            <a:picLocks noChangeAspect="1" noChangeArrowheads="1"/>
          </p:cNvPicPr>
          <p:nvPr/>
        </p:nvPicPr>
        <p:blipFill>
          <a:blip r:embed="rId6">
            <a:alphaModFix amt="85000"/>
            <a:extLst>
              <a:ext uri="{28A0092B-C50C-407E-A947-70E740481C1C}">
                <a14:useLocalDpi xmlns:a14="http://schemas.microsoft.com/office/drawing/2010/main" val="0"/>
              </a:ext>
            </a:extLst>
          </a:blip>
          <a:srcRect/>
          <a:stretch>
            <a:fillRect/>
          </a:stretch>
        </p:blipFill>
        <p:spPr bwMode="auto">
          <a:xfrm>
            <a:off x="3525756" y="4204893"/>
            <a:ext cx="4842764" cy="2619592"/>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88F571C1-BD9A-B196-BD83-208AAAFF4C16}"/>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6019" b="99653" l="9961" r="89974">
                        <a14:foregroundMark x1="32682" y1="91088" x2="32682" y2="91088"/>
                        <a14:foregroundMark x1="31836" y1="91088" x2="31836" y2="91088"/>
                        <a14:foregroundMark x1="31836" y1="91088" x2="31836" y2="91088"/>
                        <a14:foregroundMark x1="33333" y1="91667" x2="33333" y2="91667"/>
                        <a14:foregroundMark x1="53841" y1="94329" x2="53841" y2="94329"/>
                        <a14:foregroundMark x1="54753" y1="94329" x2="54753" y2="94329"/>
                        <a14:foregroundMark x1="55664" y1="90046" x2="55664" y2="90046"/>
                        <a14:foregroundMark x1="55924" y1="87384" x2="55924" y2="87384"/>
                        <a14:foregroundMark x1="55924" y1="86806" x2="52344" y2="77199"/>
                        <a14:foregroundMark x1="49609" y1="76157" x2="49609" y2="76157"/>
                        <a14:foregroundMark x1="69531" y1="74537" x2="69531" y2="74537"/>
                        <a14:foregroundMark x1="69531" y1="73958" x2="69531" y2="73958"/>
                        <a14:foregroundMark x1="69206" y1="73495" x2="69206" y2="73495"/>
                        <a14:foregroundMark x1="68620" y1="73495" x2="68620" y2="73495"/>
                        <a14:foregroundMark x1="67708" y1="86343" x2="67708" y2="86343"/>
                        <a14:foregroundMark x1="66211" y1="89005" x2="66211" y2="89005"/>
                        <a14:foregroundMark x1="65299" y1="91088" x2="65299" y2="91088"/>
                        <a14:foregroundMark x1="63477" y1="95370" x2="63477" y2="95370"/>
                        <a14:foregroundMark x1="61654" y1="97569" x2="61654" y2="97569"/>
                        <a14:foregroundMark x1="61068" y1="98032" x2="61068" y2="98032"/>
                        <a14:foregroundMark x1="58659" y1="96528" x2="58659" y2="96528"/>
                        <a14:foregroundMark x1="57422" y1="94907" x2="57422" y2="94907"/>
                        <a14:foregroundMark x1="55664" y1="89005" x2="55664" y2="89005"/>
                        <a14:foregroundMark x1="67708" y1="83565" x2="67708" y2="83565"/>
                        <a14:foregroundMark x1="70117" y1="86806" x2="70117" y2="86806"/>
                        <a14:foregroundMark x1="70703" y1="88426" x2="70703" y2="88426"/>
                        <a14:foregroundMark x1="71289" y1="87384" x2="71940" y2="85764"/>
                        <a14:foregroundMark x1="72852" y1="84722" x2="72852" y2="84722"/>
                        <a14:foregroundMark x1="71615" y1="88426" x2="69206" y2="91088"/>
                        <a14:foregroundMark x1="66797" y1="91088" x2="66797" y2="91088"/>
                        <a14:foregroundMark x1="66797" y1="91088" x2="66797" y2="91088"/>
                        <a14:foregroundMark x1="66797" y1="91667" x2="66797" y2="91667"/>
                        <a14:foregroundMark x1="66211" y1="93287" x2="66211" y2="93287"/>
                        <a14:foregroundMark x1="65560" y1="94329" x2="65560" y2="94329"/>
                        <a14:foregroundMark x1="64974" y1="95370" x2="64974" y2="95370"/>
                        <a14:foregroundMark x1="65299" y1="94329" x2="65299" y2="94329"/>
                        <a14:foregroundMark x1="65560" y1="92245" x2="65560" y2="92245"/>
                        <a14:foregroundMark x1="66797" y1="92245" x2="66797" y2="92245"/>
                        <a14:foregroundMark x1="67122" y1="92708" x2="67122" y2="92708"/>
                        <a14:foregroundMark x1="68620" y1="90046" x2="68620" y2="90046"/>
                        <a14:foregroundMark x1="66797" y1="91088" x2="66797" y2="91088"/>
                        <a14:foregroundMark x1="67122" y1="91667" x2="67969" y2="91667"/>
                        <a14:foregroundMark x1="68294" y1="92245" x2="67383" y2="93287"/>
                        <a14:foregroundMark x1="65560" y1="93750" x2="65560" y2="93750"/>
                        <a14:foregroundMark x1="64974" y1="94329" x2="64063" y2="94907"/>
                        <a14:foregroundMark x1="62891" y1="95370" x2="61393" y2="95949"/>
                        <a14:foregroundMark x1="59831" y1="96528" x2="59831" y2="96528"/>
                        <a14:foregroundMark x1="58333" y1="96528" x2="58333" y2="96528"/>
                        <a14:foregroundMark x1="57422" y1="96528" x2="56510" y2="95949"/>
                        <a14:foregroundMark x1="56250" y1="95949" x2="56250" y2="95949"/>
                        <a14:foregroundMark x1="55013" y1="95370" x2="55013" y2="95370"/>
                        <a14:foregroundMark x1="54102" y1="94329" x2="54102" y2="94329"/>
                        <a14:foregroundMark x1="53516" y1="93287" x2="53516" y2="93287"/>
                        <a14:foregroundMark x1="52604" y1="91667" x2="51693" y2="91088"/>
                        <a14:foregroundMark x1="49935" y1="90046" x2="59570" y2="99653"/>
                        <a14:foregroundMark x1="28516" y1="84144" x2="30013" y2="87384"/>
                        <a14:foregroundMark x1="32422" y1="92708" x2="32422" y2="92708"/>
                        <a14:foregroundMark x1="32422" y1="93750" x2="32422" y2="93750"/>
                        <a14:foregroundMark x1="32422" y1="94907" x2="32422" y2="94907"/>
                        <a14:foregroundMark x1="32422" y1="94907" x2="30924" y2="94329"/>
                        <a14:foregroundMark x1="30599" y1="93750" x2="30599" y2="93750"/>
                        <a14:foregroundMark x1="30599" y1="92708" x2="30599" y2="92708"/>
                        <a14:foregroundMark x1="30599" y1="92245" x2="30599" y2="92245"/>
                        <a14:foregroundMark x1="30599" y1="91667" x2="30599" y2="91667"/>
                        <a14:foregroundMark x1="32096" y1="92708" x2="32096" y2="92708"/>
                        <a14:foregroundMark x1="32422" y1="93287" x2="32422" y2="93287"/>
                        <a14:foregroundMark x1="32422" y1="93750" x2="32422" y2="93750"/>
                        <a14:foregroundMark x1="32682" y1="94329" x2="32682" y2="94329"/>
                        <a14:foregroundMark x1="33008" y1="94329" x2="33008" y2="94329"/>
                        <a14:foregroundMark x1="33008" y1="92708" x2="33008" y2="92708"/>
                        <a14:foregroundMark x1="32096" y1="90625" x2="32096" y2="90625"/>
                        <a14:foregroundMark x1="32096" y1="90625" x2="32096" y2="90625"/>
                        <a14:foregroundMark x1="33008" y1="92245" x2="33008" y2="92245"/>
                        <a14:foregroundMark x1="33008" y1="93287" x2="33008" y2="93287"/>
                        <a14:foregroundMark x1="33008" y1="93750" x2="33008" y2="93750"/>
                        <a14:foregroundMark x1="33008" y1="94329" x2="33008" y2="94329"/>
                        <a14:foregroundMark x1="33333" y1="94329" x2="32682" y2="89005"/>
                        <a14:foregroundMark x1="32682" y1="87847" x2="32682" y2="87847"/>
                        <a14:foregroundMark x1="32682" y1="87847" x2="32682" y2="87847"/>
                        <a14:foregroundMark x1="32682" y1="89005" x2="32682" y2="89005"/>
                        <a14:foregroundMark x1="32682" y1="90046" x2="32682" y2="90046"/>
                        <a14:foregroundMark x1="32422" y1="90046" x2="32422" y2="90046"/>
                        <a14:foregroundMark x1="32096" y1="89468" x2="32096" y2="89468"/>
                        <a14:foregroundMark x1="33594" y1="89468" x2="33594" y2="89468"/>
                        <a14:foregroundMark x1="34245" y1="91667" x2="34245" y2="91667"/>
                        <a14:foregroundMark x1="33333" y1="92245" x2="33333" y2="92245"/>
                        <a14:foregroundMark x1="32682" y1="92245" x2="32682" y2="92245"/>
                        <a14:foregroundMark x1="32682" y1="91088" x2="32682" y2="91088"/>
                        <a14:foregroundMark x1="32682" y1="91088" x2="32682" y2="91088"/>
                        <a14:foregroundMark x1="32422" y1="89468" x2="32422" y2="89468"/>
                        <a14:foregroundMark x1="32422" y1="90625" x2="32422" y2="90625"/>
                        <a14:foregroundMark x1="47786" y1="6019" x2="47786" y2="6019"/>
                        <a14:foregroundMark x1="44206" y1="10764" x2="44466" y2="8681"/>
                        <a14:foregroundMark x1="29427" y1="89005" x2="29427" y2="89005"/>
                        <a14:foregroundMark x1="30924" y1="89468" x2="30924" y2="89468"/>
                        <a14:foregroundMark x1="30599" y1="90046" x2="30599" y2="90046"/>
                        <a14:foregroundMark x1="30013" y1="89468" x2="30013" y2="89468"/>
                        <a14:foregroundMark x1="66797" y1="24190" x2="66797" y2="24190"/>
                        <a14:foregroundMark x1="68620" y1="25810" x2="68620" y2="25810"/>
                        <a14:backgroundMark x1="33333" y1="89005" x2="33333" y2="89005"/>
                        <a14:backgroundMark x1="32422" y1="91088" x2="32422" y2="91088"/>
                        <a14:backgroundMark x1="32422" y1="91667" x2="32422" y2="91667"/>
                        <a14:backgroundMark x1="32096" y1="91667" x2="32096" y2="91667"/>
                        <a14:backgroundMark x1="31185" y1="91088" x2="31185" y2="91088"/>
                        <a14:backgroundMark x1="31185" y1="91088" x2="31185" y2="91088"/>
                        <a14:backgroundMark x1="31185" y1="90046" x2="31185" y2="90046"/>
                        <a14:backgroundMark x1="31185" y1="90046" x2="31185" y2="90046"/>
                        <a14:backgroundMark x1="31185" y1="90046" x2="31185" y2="90046"/>
                        <a14:backgroundMark x1="31185" y1="91088" x2="31185" y2="91088"/>
                        <a14:backgroundMark x1="31185" y1="91088" x2="31185" y2="91088"/>
                        <a14:backgroundMark x1="31185" y1="91667" x2="31185" y2="91667"/>
                        <a14:backgroundMark x1="32096" y1="92245" x2="32096" y2="92245"/>
                        <a14:backgroundMark x1="32682" y1="92245" x2="32682" y2="92245"/>
                        <a14:backgroundMark x1="32682" y1="92708" x2="32682" y2="92708"/>
                        <a14:backgroundMark x1="32682" y1="93287" x2="32682" y2="93287"/>
                        <a14:backgroundMark x1="32682" y1="94329" x2="32682" y2="94329"/>
                        <a14:backgroundMark x1="33333" y1="95370" x2="33333" y2="95370"/>
                        <a14:backgroundMark x1="33594" y1="95370" x2="33594" y2="95370"/>
                        <a14:backgroundMark x1="32422" y1="93287" x2="32422" y2="93287"/>
                        <a14:backgroundMark x1="32096" y1="91088" x2="32096" y2="90625"/>
                        <a14:backgroundMark x1="32096" y1="92245" x2="32096" y2="91088"/>
                        <a14:backgroundMark x1="31185" y1="91088" x2="31185" y2="91088"/>
                        <a14:backgroundMark x1="58333" y1="95949" x2="58333" y2="95949"/>
                        <a14:backgroundMark x1="58919" y1="95949" x2="58919" y2="95949"/>
                        <a14:backgroundMark x1="60482" y1="95949" x2="60482" y2="95949"/>
                        <a14:backgroundMark x1="63151" y1="95370" x2="63477" y2="93750"/>
                        <a14:backgroundMark x1="64063" y1="92245" x2="64063" y2="92245"/>
                        <a14:backgroundMark x1="65299" y1="88426" x2="65299" y2="86343"/>
                        <a14:backgroundMark x1="65299" y1="84722" x2="65299" y2="84722"/>
                        <a14:backgroundMark x1="65299" y1="79282" x2="65299" y2="80903"/>
                        <a14:backgroundMark x1="65885" y1="92708" x2="65885" y2="92708"/>
                        <a14:backgroundMark x1="65560" y1="92708" x2="65560" y2="92708"/>
                        <a14:backgroundMark x1="52927" y1="95219" x2="50977" y2="95370"/>
                        <a14:backgroundMark x1="60836" y1="94605" x2="57086" y2="94896"/>
                        <a14:backgroundMark x1="63818" y1="94373" x2="62519" y2="94474"/>
                        <a14:backgroundMark x1="55729" y1="93634" x2="62695" y2="91088"/>
                        <a14:backgroundMark x1="50977" y1="95370" x2="52515" y2="94808"/>
                        <a14:backgroundMark x1="59346" y1="96528" x2="59074" y2="96969"/>
                        <a14:backgroundMark x1="60660" y1="94393" x2="59346" y2="96528"/>
                        <a14:backgroundMark x1="62695" y1="91088" x2="60713" y2="94308"/>
                        <a14:backgroundMark x1="66211" y1="94329" x2="66211" y2="94329"/>
                        <a14:backgroundMark x1="62891" y1="94329" x2="62891" y2="94329"/>
                        <a14:backgroundMark x1="66356" y1="92708" x2="66786" y2="92605"/>
                        <a14:backgroundMark x1="59570" y1="94329" x2="66356" y2="92708"/>
                      </a14:backgroundRemoval>
                    </a14:imgEffect>
                  </a14:imgLayer>
                </a14:imgProps>
              </a:ext>
              <a:ext uri="{28A0092B-C50C-407E-A947-70E740481C1C}">
                <a14:useLocalDpi xmlns:a14="http://schemas.microsoft.com/office/drawing/2010/main" val="0"/>
              </a:ext>
            </a:extLst>
          </a:blip>
          <a:stretch>
            <a:fillRect/>
          </a:stretch>
        </p:blipFill>
        <p:spPr>
          <a:xfrm>
            <a:off x="7855152" y="4329034"/>
            <a:ext cx="4211414" cy="2371311"/>
          </a:xfrm>
          <a:prstGeom prst="rect">
            <a:avLst/>
          </a:prstGeom>
          <a:ln>
            <a:noFill/>
          </a:ln>
          <a:effectLst>
            <a:outerShdw blurRad="190500" algn="tl" rotWithShape="0">
              <a:srgbClr val="000000">
                <a:alpha val="70000"/>
              </a:srgbClr>
            </a:outerShdw>
          </a:effectLst>
        </p:spPr>
      </p:pic>
      <p:pic>
        <p:nvPicPr>
          <p:cNvPr id="2060" name="Picture 12" descr="KediriKota - CSIRT">
            <a:extLst>
              <a:ext uri="{FF2B5EF4-FFF2-40B4-BE49-F238E27FC236}">
                <a16:creationId xmlns:a16="http://schemas.microsoft.com/office/drawing/2014/main" id="{57445428-9E3C-630A-00DC-888EC0E6B0A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0244" y="4085535"/>
            <a:ext cx="2902143" cy="277246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2442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D262D-C519-C96D-1C11-2D21E6C0A691}"/>
              </a:ext>
            </a:extLst>
          </p:cNvPr>
          <p:cNvSpPr>
            <a:spLocks noGrp="1"/>
          </p:cNvSpPr>
          <p:nvPr>
            <p:ph type="ctrTitle"/>
          </p:nvPr>
        </p:nvSpPr>
        <p:spPr>
          <a:xfrm>
            <a:off x="1595269" y="0"/>
            <a:ext cx="9001462" cy="881063"/>
          </a:xfrm>
        </p:spPr>
        <p:txBody>
          <a:bodyPr/>
          <a:lstStyle/>
          <a:p>
            <a:r>
              <a:rPr lang="ar-EG" dirty="0">
                <a:solidFill>
                  <a:schemeClr val="accent5">
                    <a:lumMod val="60000"/>
                    <a:lumOff val="40000"/>
                  </a:schemeClr>
                </a:solidFill>
              </a:rPr>
              <a:t>الملفات المخادعة</a:t>
            </a:r>
            <a:endParaRPr lang="en-US" dirty="0">
              <a:solidFill>
                <a:schemeClr val="accent5">
                  <a:lumMod val="60000"/>
                  <a:lumOff val="40000"/>
                </a:schemeClr>
              </a:solidFill>
            </a:endParaRPr>
          </a:p>
        </p:txBody>
      </p:sp>
      <p:sp>
        <p:nvSpPr>
          <p:cNvPr id="4" name="Rectangle 1">
            <a:extLst>
              <a:ext uri="{FF2B5EF4-FFF2-40B4-BE49-F238E27FC236}">
                <a16:creationId xmlns:a16="http://schemas.microsoft.com/office/drawing/2014/main" id="{F09C4758-6DFD-B993-97CC-24A4FB5451A6}"/>
              </a:ext>
            </a:extLst>
          </p:cNvPr>
          <p:cNvSpPr>
            <a:spLocks noGrp="1" noChangeArrowheads="1"/>
          </p:cNvSpPr>
          <p:nvPr>
            <p:ph type="subTitle" idx="1"/>
          </p:nvPr>
        </p:nvSpPr>
        <p:spPr bwMode="auto">
          <a:xfrm>
            <a:off x="841642" y="777399"/>
            <a:ext cx="10950114" cy="3580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342900" marR="0" lvl="0" indent="-342900" algn="r" defTabSz="914400" rtl="1"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ar-SA" altLang="en-US" b="1" i="0" u="none" strike="noStrike" cap="none" normalizeH="0" baseline="0" dirty="0">
                <a:ln>
                  <a:noFill/>
                </a:ln>
                <a:solidFill>
                  <a:schemeClr val="tx1"/>
                </a:solidFill>
                <a:effectLst/>
                <a:latin typeface="Arial" panose="020B0604020202020204" pitchFamily="34" charset="0"/>
                <a:cs typeface="+mj-cs"/>
              </a:rPr>
              <a:t>ملفات</a:t>
            </a:r>
            <a:r>
              <a:rPr kumimoji="0" lang="en-US" altLang="en-US" b="1" i="0" u="none" strike="noStrike" cap="none" normalizeH="0" baseline="0" dirty="0">
                <a:ln>
                  <a:noFill/>
                </a:ln>
                <a:solidFill>
                  <a:schemeClr val="tx1"/>
                </a:solidFill>
                <a:effectLst/>
                <a:latin typeface="Arial" panose="020B0604020202020204" pitchFamily="34" charset="0"/>
                <a:cs typeface="+mj-cs"/>
              </a:rPr>
              <a:t> SVG </a:t>
            </a:r>
            <a:r>
              <a:rPr kumimoji="0" lang="ar-SA" altLang="en-US" b="1" i="0" u="none" strike="noStrike" cap="none" normalizeH="0" baseline="0" dirty="0">
                <a:ln>
                  <a:noFill/>
                </a:ln>
                <a:solidFill>
                  <a:schemeClr val="tx1"/>
                </a:solidFill>
                <a:effectLst/>
                <a:latin typeface="Arial" panose="020B0604020202020204" pitchFamily="34" charset="0"/>
                <a:cs typeface="+mj-cs"/>
              </a:rPr>
              <a:t>تحتوي على جافا سكريبت</a:t>
            </a:r>
            <a:r>
              <a:rPr kumimoji="0" lang="en-US" altLang="en-US" b="1" i="0" u="none" strike="noStrike" cap="none" normalizeH="0" baseline="0" dirty="0">
                <a:ln>
                  <a:noFill/>
                </a:ln>
                <a:solidFill>
                  <a:schemeClr val="tx1"/>
                </a:solidFill>
                <a:effectLst/>
                <a:latin typeface="Arial" panose="020B0604020202020204" pitchFamily="34" charset="0"/>
                <a:cs typeface="+mj-cs"/>
              </a:rPr>
              <a:t>:</a:t>
            </a:r>
            <a:r>
              <a:rPr kumimoji="0" lang="en-US" altLang="en-US" b="0" i="0" u="none" strike="noStrike" cap="none" normalizeH="0" baseline="0" dirty="0">
                <a:ln>
                  <a:noFill/>
                </a:ln>
                <a:solidFill>
                  <a:schemeClr val="tx1"/>
                </a:solidFill>
                <a:effectLst/>
                <a:latin typeface="Arial" panose="020B0604020202020204" pitchFamily="34" charset="0"/>
                <a:cs typeface="+mj-cs"/>
              </a:rPr>
              <a:t> </a:t>
            </a:r>
            <a:r>
              <a:rPr kumimoji="0" lang="ar-SA" altLang="en-US" b="0" i="0" u="none" strike="noStrike" cap="none" normalizeH="0" baseline="0" dirty="0">
                <a:ln>
                  <a:noFill/>
                </a:ln>
                <a:solidFill>
                  <a:schemeClr val="tx1"/>
                </a:solidFill>
                <a:effectLst/>
                <a:latin typeface="Arial" panose="020B0604020202020204" pitchFamily="34" charset="0"/>
                <a:cs typeface="+mj-cs"/>
              </a:rPr>
              <a:t>تستخدم لتنفيذ هجمات</a:t>
            </a:r>
            <a:r>
              <a:rPr kumimoji="0" lang="en-US" altLang="en-US" b="0" i="0" u="none" strike="noStrike" cap="none" normalizeH="0" baseline="0" dirty="0">
                <a:ln>
                  <a:noFill/>
                </a:ln>
                <a:solidFill>
                  <a:schemeClr val="tx1"/>
                </a:solidFill>
                <a:effectLst/>
                <a:latin typeface="Arial" panose="020B0604020202020204" pitchFamily="34" charset="0"/>
                <a:cs typeface="+mj-cs"/>
              </a:rPr>
              <a:t> XSS </a:t>
            </a:r>
            <a:r>
              <a:rPr kumimoji="0" lang="ar-SA" altLang="en-US" b="0" i="0" u="none" strike="noStrike" cap="none" normalizeH="0" baseline="0" dirty="0">
                <a:ln>
                  <a:noFill/>
                </a:ln>
                <a:solidFill>
                  <a:schemeClr val="tx1"/>
                </a:solidFill>
                <a:effectLst/>
                <a:latin typeface="Arial" panose="020B0604020202020204" pitchFamily="34" charset="0"/>
                <a:cs typeface="+mj-cs"/>
              </a:rPr>
              <a:t>وسرقة بيانات الجلسات</a:t>
            </a:r>
            <a:r>
              <a:rPr kumimoji="0" lang="en-US" altLang="en-US" b="0" i="0" u="none" strike="noStrike" cap="none" normalizeH="0" baseline="0" dirty="0">
                <a:ln>
                  <a:noFill/>
                </a:ln>
                <a:solidFill>
                  <a:schemeClr val="tx1"/>
                </a:solidFill>
                <a:effectLst/>
                <a:latin typeface="Arial" panose="020B0604020202020204" pitchFamily="34" charset="0"/>
                <a:cs typeface="+mj-cs"/>
              </a:rPr>
              <a:t>.</a:t>
            </a:r>
            <a:endParaRPr kumimoji="0" lang="en-US" altLang="en-US" b="0" i="0" u="none" strike="noStrike" cap="none" normalizeH="0" baseline="0" dirty="0">
              <a:ln>
                <a:noFill/>
              </a:ln>
              <a:solidFill>
                <a:schemeClr val="tx1"/>
              </a:solidFill>
              <a:effectLst/>
              <a:cs typeface="+mj-cs"/>
            </a:endParaRPr>
          </a:p>
          <a:p>
            <a:pPr marL="342900" marR="0" lvl="0" indent="-342900" algn="r" defTabSz="914400" rtl="1"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ar-SA" altLang="en-US" b="1" i="0" u="none" strike="noStrike" cap="none" normalizeH="0" baseline="0" dirty="0">
                <a:ln>
                  <a:noFill/>
                </a:ln>
                <a:solidFill>
                  <a:schemeClr val="tx1"/>
                </a:solidFill>
                <a:effectLst/>
                <a:latin typeface="Arial" panose="020B0604020202020204" pitchFamily="34" charset="0"/>
                <a:cs typeface="+mj-cs"/>
              </a:rPr>
              <a:t>ملفات</a:t>
            </a:r>
            <a:r>
              <a:rPr kumimoji="0" lang="en-US" altLang="en-US" b="1" i="0" u="none" strike="noStrike" cap="none" normalizeH="0" baseline="0" dirty="0">
                <a:ln>
                  <a:noFill/>
                </a:ln>
                <a:solidFill>
                  <a:schemeClr val="tx1"/>
                </a:solidFill>
                <a:effectLst/>
                <a:latin typeface="Arial" panose="020B0604020202020204" pitchFamily="34" charset="0"/>
                <a:cs typeface="+mj-cs"/>
              </a:rPr>
              <a:t> HTML </a:t>
            </a:r>
            <a:r>
              <a:rPr kumimoji="0" lang="ar-SA" altLang="en-US" b="1" i="0" u="none" strike="noStrike" cap="none" normalizeH="0" baseline="0" dirty="0">
                <a:ln>
                  <a:noFill/>
                </a:ln>
                <a:solidFill>
                  <a:schemeClr val="tx1"/>
                </a:solidFill>
                <a:effectLst/>
                <a:latin typeface="Arial" panose="020B0604020202020204" pitchFamily="34" charset="0"/>
                <a:cs typeface="+mj-cs"/>
              </a:rPr>
              <a:t>المزيفة</a:t>
            </a:r>
            <a:r>
              <a:rPr kumimoji="0" lang="en-US" altLang="en-US" b="1" i="0" u="none" strike="noStrike" cap="none" normalizeH="0" baseline="0" dirty="0">
                <a:ln>
                  <a:noFill/>
                </a:ln>
                <a:solidFill>
                  <a:schemeClr val="tx1"/>
                </a:solidFill>
                <a:effectLst/>
                <a:latin typeface="Arial" panose="020B0604020202020204" pitchFamily="34" charset="0"/>
                <a:cs typeface="+mj-cs"/>
              </a:rPr>
              <a:t>:</a:t>
            </a:r>
            <a:r>
              <a:rPr kumimoji="0" lang="en-US" altLang="en-US" b="0" i="0" u="none" strike="noStrike" cap="none" normalizeH="0" baseline="0" dirty="0">
                <a:ln>
                  <a:noFill/>
                </a:ln>
                <a:solidFill>
                  <a:schemeClr val="tx1"/>
                </a:solidFill>
                <a:effectLst/>
                <a:latin typeface="Arial" panose="020B0604020202020204" pitchFamily="34" charset="0"/>
                <a:cs typeface="+mj-cs"/>
              </a:rPr>
              <a:t> </a:t>
            </a:r>
            <a:r>
              <a:rPr kumimoji="0" lang="ar-SA" altLang="en-US" b="0" i="0" u="none" strike="noStrike" cap="none" normalizeH="0" baseline="0" dirty="0">
                <a:ln>
                  <a:noFill/>
                </a:ln>
                <a:solidFill>
                  <a:schemeClr val="tx1"/>
                </a:solidFill>
                <a:effectLst/>
                <a:latin typeface="Arial" panose="020B0604020202020204" pitchFamily="34" charset="0"/>
                <a:cs typeface="+mj-cs"/>
              </a:rPr>
              <a:t>تُستغل لخداع المستخدمين أو سرقة كلمات المرور عبر متصفحاتهم</a:t>
            </a:r>
            <a:r>
              <a:rPr kumimoji="0" lang="en-US" altLang="en-US" b="0" i="0" u="none" strike="noStrike" cap="none" normalizeH="0" baseline="0" dirty="0">
                <a:ln>
                  <a:noFill/>
                </a:ln>
                <a:solidFill>
                  <a:schemeClr val="tx1"/>
                </a:solidFill>
                <a:effectLst/>
                <a:latin typeface="Arial" panose="020B0604020202020204" pitchFamily="34" charset="0"/>
                <a:cs typeface="+mj-cs"/>
              </a:rPr>
              <a:t>.</a:t>
            </a:r>
            <a:endParaRPr kumimoji="0" lang="en-US" altLang="en-US" b="0" i="0" u="none" strike="noStrike" cap="none" normalizeH="0" baseline="0" dirty="0">
              <a:ln>
                <a:noFill/>
              </a:ln>
              <a:solidFill>
                <a:schemeClr val="tx1"/>
              </a:solidFill>
              <a:effectLst/>
              <a:cs typeface="+mj-cs"/>
            </a:endParaRPr>
          </a:p>
          <a:p>
            <a:pPr marL="342900" marR="0" lvl="0" indent="-342900" algn="r" defTabSz="914400" rtl="1"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ar-SA" altLang="en-US" b="1" i="0" u="none" strike="noStrike" cap="none" normalizeH="0" baseline="0" dirty="0">
                <a:ln>
                  <a:noFill/>
                </a:ln>
                <a:solidFill>
                  <a:schemeClr val="tx1"/>
                </a:solidFill>
                <a:effectLst/>
                <a:latin typeface="Arial" panose="020B0604020202020204" pitchFamily="34" charset="0"/>
                <a:cs typeface="+mj-cs"/>
              </a:rPr>
              <a:t>الملفات ذات الامتدادات المزدوجة</a:t>
            </a:r>
            <a:r>
              <a:rPr kumimoji="0" lang="en-US" altLang="en-US" b="1" i="0" u="none" strike="noStrike" cap="none" normalizeH="0" baseline="0" dirty="0">
                <a:ln>
                  <a:noFill/>
                </a:ln>
                <a:solidFill>
                  <a:schemeClr val="tx1"/>
                </a:solidFill>
                <a:effectLst/>
                <a:latin typeface="Arial" panose="020B0604020202020204" pitchFamily="34" charset="0"/>
                <a:cs typeface="+mj-cs"/>
              </a:rPr>
              <a:t> </a:t>
            </a:r>
            <a:r>
              <a:rPr kumimoji="0" lang="ar-SA" altLang="en-US" b="1" i="0" u="none" strike="noStrike" cap="none" normalizeH="0" baseline="0" dirty="0">
                <a:ln>
                  <a:noFill/>
                </a:ln>
                <a:solidFill>
                  <a:schemeClr val="tx1"/>
                </a:solidFill>
                <a:effectLst/>
                <a:latin typeface="Arial" panose="020B0604020202020204" pitchFamily="34" charset="0"/>
                <a:cs typeface="+mj-cs"/>
              </a:rPr>
              <a:t>مثل</a:t>
            </a:r>
            <a:r>
              <a:rPr kumimoji="0" lang="en-US" altLang="en-US" b="1" i="0" u="none" strike="noStrike" cap="none" normalizeH="0" baseline="0" dirty="0">
                <a:ln>
                  <a:noFill/>
                </a:ln>
                <a:solidFill>
                  <a:schemeClr val="tx1"/>
                </a:solidFill>
                <a:effectLst/>
                <a:latin typeface="Arial" panose="020B0604020202020204" pitchFamily="34" charset="0"/>
                <a:cs typeface="+mj-cs"/>
              </a:rPr>
              <a:t> </a:t>
            </a:r>
            <a:r>
              <a:rPr lang="en-US" altLang="en-US" b="1" dirty="0">
                <a:effectLst/>
                <a:latin typeface="Arial" panose="020B0604020202020204" pitchFamily="34" charset="0"/>
                <a:cs typeface="+mj-cs"/>
              </a:rPr>
              <a:t>(</a:t>
            </a:r>
            <a:r>
              <a:rPr kumimoji="0" lang="en-US" altLang="en-US" b="1" i="0" u="none" strike="noStrike" cap="none" normalizeH="0" baseline="0" dirty="0">
                <a:ln>
                  <a:noFill/>
                </a:ln>
                <a:solidFill>
                  <a:srgbClr val="FF0000"/>
                </a:solidFill>
                <a:effectLst/>
                <a:latin typeface="Arial" panose="020B0604020202020204" pitchFamily="34" charset="0"/>
                <a:cs typeface="+mj-cs"/>
              </a:rPr>
              <a:t>file.php.jpg</a:t>
            </a:r>
            <a:r>
              <a:rPr kumimoji="0" lang="en-US" altLang="en-US" b="1" i="0" u="none" strike="noStrike" cap="none" normalizeH="0" baseline="0" dirty="0">
                <a:ln>
                  <a:noFill/>
                </a:ln>
                <a:solidFill>
                  <a:schemeClr val="tx1"/>
                </a:solidFill>
                <a:effectLst/>
                <a:latin typeface="Arial" panose="020B0604020202020204" pitchFamily="34" charset="0"/>
                <a:cs typeface="+mj-cs"/>
              </a:rPr>
              <a:t>):</a:t>
            </a:r>
            <a:r>
              <a:rPr kumimoji="0" lang="en-US" altLang="en-US" b="0" i="0" u="none" strike="noStrike" cap="none" normalizeH="0" baseline="0" dirty="0">
                <a:ln>
                  <a:noFill/>
                </a:ln>
                <a:solidFill>
                  <a:schemeClr val="tx1"/>
                </a:solidFill>
                <a:effectLst/>
                <a:latin typeface="Arial" panose="020B0604020202020204" pitchFamily="34" charset="0"/>
                <a:cs typeface="+mj-cs"/>
              </a:rPr>
              <a:t> </a:t>
            </a:r>
            <a:r>
              <a:rPr kumimoji="0" lang="ar-SA" altLang="en-US" b="0" i="0" u="none" strike="noStrike" cap="none" normalizeH="0" baseline="0" dirty="0">
                <a:ln>
                  <a:noFill/>
                </a:ln>
                <a:solidFill>
                  <a:schemeClr val="tx1"/>
                </a:solidFill>
                <a:effectLst/>
                <a:latin typeface="Arial" panose="020B0604020202020204" pitchFamily="34" charset="0"/>
                <a:cs typeface="+mj-cs"/>
              </a:rPr>
              <a:t>تُستغل لتجاوز فلاتر الحماية الضعيفة في المواقع</a:t>
            </a:r>
            <a:r>
              <a:rPr kumimoji="0" lang="ar-EG" altLang="en-US" b="0" i="0" u="none" strike="noStrike" cap="none" normalizeH="0" baseline="0" dirty="0">
                <a:ln>
                  <a:noFill/>
                </a:ln>
                <a:solidFill>
                  <a:schemeClr val="tx1"/>
                </a:solidFill>
                <a:effectLst/>
                <a:latin typeface="Arial" panose="020B0604020202020204" pitchFamily="34" charset="0"/>
                <a:cs typeface="+mj-cs"/>
              </a:rPr>
              <a:t> </a:t>
            </a:r>
            <a:r>
              <a:rPr kumimoji="0" lang="en-US" altLang="en-US" b="0" i="0" u="none" strike="noStrike" cap="none" normalizeH="0" baseline="0" dirty="0">
                <a:ln>
                  <a:noFill/>
                </a:ln>
                <a:solidFill>
                  <a:schemeClr val="tx1"/>
                </a:solidFill>
                <a:effectLst/>
                <a:latin typeface="Arial" panose="020B0604020202020204" pitchFamily="34" charset="0"/>
                <a:cs typeface="+mj-cs"/>
              </a:rPr>
              <a:t>.</a:t>
            </a:r>
            <a:r>
              <a:rPr kumimoji="0" lang="ar-EG" altLang="en-US" b="0" i="0" u="none" strike="noStrike" cap="none" normalizeH="0" baseline="0" dirty="0">
                <a:ln>
                  <a:noFill/>
                </a:ln>
                <a:solidFill>
                  <a:schemeClr val="tx1"/>
                </a:solidFill>
                <a:effectLst/>
                <a:latin typeface="Arial" panose="020B0604020202020204" pitchFamily="34" charset="0"/>
                <a:cs typeface="+mj-cs"/>
              </a:rPr>
              <a:t> </a:t>
            </a:r>
          </a:p>
          <a:p>
            <a:pPr marL="342900" marR="0" lvl="0" indent="-342900" algn="r" defTabSz="914400" rtl="1"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ar-EG" altLang="en-US" b="0" i="0" u="none" strike="noStrike" cap="none" normalizeH="0" baseline="0" dirty="0">
                <a:ln>
                  <a:noFill/>
                </a:ln>
                <a:solidFill>
                  <a:schemeClr val="tx1"/>
                </a:solidFill>
                <a:effectLst/>
                <a:latin typeface="Arial" panose="020B0604020202020204" pitchFamily="34" charset="0"/>
                <a:cs typeface="+mj-cs"/>
              </a:rPr>
              <a:t>ملفات ال </a:t>
            </a:r>
            <a:r>
              <a:rPr lang="en-US" altLang="en-US" dirty="0">
                <a:effectLst/>
                <a:latin typeface="Arial" panose="020B0604020202020204" pitchFamily="34" charset="0"/>
                <a:cs typeface="+mj-cs"/>
              </a:rPr>
              <a:t>PDF</a:t>
            </a:r>
            <a:r>
              <a:rPr kumimoji="0" lang="en-US" altLang="en-US" b="0" i="0" u="none" strike="noStrike" cap="none" normalizeH="0" baseline="0" dirty="0">
                <a:ln>
                  <a:noFill/>
                </a:ln>
                <a:solidFill>
                  <a:schemeClr val="tx1"/>
                </a:solidFill>
                <a:effectLst/>
                <a:latin typeface="Arial" panose="020B0604020202020204" pitchFamily="34" charset="0"/>
                <a:cs typeface="+mj-cs"/>
              </a:rPr>
              <a:t> </a:t>
            </a:r>
            <a:r>
              <a:rPr kumimoji="0" lang="ar-EG" altLang="en-US" b="0" i="0" u="none" strike="noStrike" cap="none" normalizeH="0" baseline="0" dirty="0">
                <a:ln>
                  <a:noFill/>
                </a:ln>
                <a:solidFill>
                  <a:schemeClr val="tx1"/>
                </a:solidFill>
                <a:effectLst/>
                <a:latin typeface="Arial" panose="020B0604020202020204" pitchFamily="34" charset="0"/>
                <a:cs typeface="+mj-cs"/>
              </a:rPr>
              <a:t> المدمجة ب </a:t>
            </a:r>
            <a:r>
              <a:rPr kumimoji="0" lang="en-US" altLang="en-US" b="0" i="0" u="none" strike="noStrike" cap="none" normalizeH="0" baseline="0" dirty="0">
                <a:ln>
                  <a:noFill/>
                </a:ln>
                <a:solidFill>
                  <a:schemeClr val="tx1"/>
                </a:solidFill>
                <a:effectLst/>
                <a:latin typeface="Arial" panose="020B0604020202020204" pitchFamily="34" charset="0"/>
                <a:cs typeface="+mj-cs"/>
              </a:rPr>
              <a:t>Java Script </a:t>
            </a:r>
            <a:r>
              <a:rPr kumimoji="0" lang="ar-EG" altLang="en-US" b="0" i="0" u="none" strike="noStrike" cap="none" normalizeH="0" baseline="0" dirty="0">
                <a:ln>
                  <a:noFill/>
                </a:ln>
                <a:solidFill>
                  <a:schemeClr val="tx1"/>
                </a:solidFill>
                <a:effectLst/>
                <a:latin typeface="Arial" panose="020B0604020202020204" pitchFamily="34" charset="0"/>
                <a:cs typeface="+mj-cs"/>
              </a:rPr>
              <a:t>: </a:t>
            </a:r>
            <a:r>
              <a:rPr lang="ar-EG" dirty="0">
                <a:cs typeface="+mj-cs"/>
              </a:rPr>
              <a:t>تُستغل لتنفيذ أكواد خبيثة تلقائياً بمجرد فتح الملف أو توجيه </a:t>
            </a:r>
            <a:br>
              <a:rPr lang="ar-EG" dirty="0">
                <a:cs typeface="+mj-cs"/>
              </a:rPr>
            </a:br>
            <a:r>
              <a:rPr lang="ar-EG" dirty="0">
                <a:cs typeface="+mj-cs"/>
              </a:rPr>
              <a:t>المستخدم لروابط احتيالية لسرقة بياناته.</a:t>
            </a:r>
            <a:endParaRPr kumimoji="0" lang="en-US" altLang="en-US" b="0" i="0" u="none" strike="noStrike" cap="none" normalizeH="0" baseline="0" dirty="0">
              <a:ln>
                <a:noFill/>
              </a:ln>
              <a:solidFill>
                <a:schemeClr val="tx1"/>
              </a:solidFill>
              <a:effectLst/>
              <a:latin typeface="Arial" panose="020B0604020202020204" pitchFamily="34" charset="0"/>
              <a:cs typeface="+mj-cs"/>
            </a:endParaRPr>
          </a:p>
        </p:txBody>
      </p:sp>
      <p:pic>
        <p:nvPicPr>
          <p:cNvPr id="7172" name="Picture 4" descr="Scalable Vector Graphics files pose a novel phishing threat | SOPHOS">
            <a:extLst>
              <a:ext uri="{FF2B5EF4-FFF2-40B4-BE49-F238E27FC236}">
                <a16:creationId xmlns:a16="http://schemas.microsoft.com/office/drawing/2014/main" id="{01FFAE68-C1AA-9322-6502-BB42A119B743}"/>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9945" b="89503" l="9353" r="91367">
                        <a14:foregroundMark x1="24101" y1="86740" x2="24101" y2="86740"/>
                        <a14:foregroundMark x1="50719" y1="84530" x2="50719" y2="84530"/>
                        <a14:foregroundMark x1="51799" y1="85635" x2="51799" y2="85635"/>
                        <a14:foregroundMark x1="51799" y1="87845" x2="51799" y2="87845"/>
                        <a14:foregroundMark x1="82734" y1="87845" x2="82734" y2="87845"/>
                        <a14:foregroundMark x1="83453" y1="83978" x2="83453" y2="83978"/>
                        <a14:foregroundMark x1="86331" y1="83425" x2="86331" y2="83425"/>
                        <a14:foregroundMark x1="88489" y1="83425" x2="88489" y2="83425"/>
                        <a14:foregroundMark x1="91007" y1="83978" x2="91007" y2="83978"/>
                        <a14:foregroundMark x1="91367" y1="83978" x2="91367" y2="83978"/>
                        <a14:foregroundMark x1="66906" y1="82873" x2="66906" y2="82873"/>
                        <a14:foregroundMark x1="45683" y1="82873" x2="45683" y2="82873"/>
                        <a14:foregroundMark x1="36691" y1="86188" x2="36691" y2="86188"/>
                      </a14:backgroundRemoval>
                    </a14:imgEffect>
                  </a14:imgLayer>
                </a14:imgProps>
              </a:ext>
              <a:ext uri="{28A0092B-C50C-407E-A947-70E740481C1C}">
                <a14:useLocalDpi xmlns:a14="http://schemas.microsoft.com/office/drawing/2010/main" val="0"/>
              </a:ext>
            </a:extLst>
          </a:blip>
          <a:srcRect/>
          <a:stretch>
            <a:fillRect/>
          </a:stretch>
        </p:blipFill>
        <p:spPr bwMode="auto">
          <a:xfrm>
            <a:off x="9398000" y="4865242"/>
            <a:ext cx="3060700" cy="1992758"/>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What Is Credential Phishing And How Does DMARC Prevent It?">
            <a:extLst>
              <a:ext uri="{FF2B5EF4-FFF2-40B4-BE49-F238E27FC236}">
                <a16:creationId xmlns:a16="http://schemas.microsoft.com/office/drawing/2014/main" id="{B6575DC9-E97A-02B2-1303-ADB77DEE04C0}"/>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9926" b="89082" l="6229" r="89899">
                        <a14:foregroundMark x1="10438" y1="28784" x2="10438" y2="28784"/>
                        <a14:foregroundMark x1="10101" y1="33995" x2="10101" y2="36973"/>
                        <a14:foregroundMark x1="9764" y1="39206" x2="9764" y2="40943"/>
                        <a14:foregroundMark x1="9764" y1="43176" x2="9428" y2="45409"/>
                        <a14:foregroundMark x1="8923" y1="47643" x2="8923" y2="50620"/>
                        <a14:foregroundMark x1="10438" y1="46650" x2="10438" y2="41935"/>
                        <a14:foregroundMark x1="10438" y1="35236" x2="10438" y2="35236"/>
                        <a14:foregroundMark x1="8586" y1="34491" x2="8249" y2="32258"/>
                        <a14:foregroundMark x1="8249" y1="31017" x2="10101" y2="29280"/>
                        <a14:foregroundMark x1="11279" y1="29280" x2="11279" y2="29280"/>
                        <a14:foregroundMark x1="6229" y1="59305" x2="6229" y2="59305"/>
                      </a14:backgroundRemoval>
                    </a14:imgEffect>
                  </a14:imgLayer>
                </a14:imgProps>
              </a:ext>
              <a:ext uri="{28A0092B-C50C-407E-A947-70E740481C1C}">
                <a14:useLocalDpi xmlns:a14="http://schemas.microsoft.com/office/drawing/2010/main" val="0"/>
              </a:ext>
            </a:extLst>
          </a:blip>
          <a:srcRect/>
          <a:stretch>
            <a:fillRect/>
          </a:stretch>
        </p:blipFill>
        <p:spPr bwMode="auto">
          <a:xfrm>
            <a:off x="400244" y="-91342"/>
            <a:ext cx="3260724" cy="2212242"/>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7178" name="Picture 10" descr="Double file extension detection for Windows devices | NordVPN">
            <a:extLst>
              <a:ext uri="{FF2B5EF4-FFF2-40B4-BE49-F238E27FC236}">
                <a16:creationId xmlns:a16="http://schemas.microsoft.com/office/drawing/2014/main" id="{970BF40F-5F89-BECA-00AB-1B5A4FC3EF95}"/>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10000" b="90000" l="10000" r="90000">
                        <a14:foregroundMark x1="56888" y1="47222" x2="56888" y2="47222"/>
                        <a14:foregroundMark x1="57374" y1="47222" x2="58671" y2="47222"/>
                        <a14:foregroundMark x1="64019" y1="52469" x2="64019" y2="52469"/>
                        <a14:foregroundMark x1="64182" y1="53086" x2="64182" y2="53086"/>
                        <a14:foregroundMark x1="63371" y1="49383" x2="63371" y2="46914"/>
                        <a14:foregroundMark x1="64506" y1="46296" x2="65964" y2="46296"/>
                        <a14:foregroundMark x1="66775" y1="47531" x2="67423" y2="50000"/>
                        <a14:foregroundMark x1="67261" y1="53086" x2="66937" y2="54321"/>
                        <a14:foregroundMark x1="66126" y1="56173" x2="64992" y2="58025"/>
                        <a14:foregroundMark x1="61750" y1="58025" x2="58347" y2="53395"/>
                        <a14:foregroundMark x1="62723" y1="65741" x2="55592" y2="50309"/>
                        <a14:foregroundMark x1="55592" y1="50309" x2="67747" y2="42593"/>
                        <a14:foregroundMark x1="67747" y1="42593" x2="64992" y2="62037"/>
                        <a14:foregroundMark x1="64992" y1="62037" x2="59643" y2="62963"/>
                        <a14:foregroundMark x1="65964" y1="58642" x2="66288" y2="57099"/>
                        <a14:foregroundMark x1="66775" y1="54938" x2="66775" y2="52160"/>
                        <a14:foregroundMark x1="66775" y1="50617" x2="66775" y2="48765"/>
                        <a14:foregroundMark x1="66775" y1="48148" x2="66288" y2="45679"/>
                        <a14:foregroundMark x1="66126" y1="43827" x2="66126" y2="43827"/>
                        <a14:foregroundMark x1="63209" y1="43519" x2="62075" y2="44444"/>
                        <a14:foregroundMark x1="61426" y1="45988" x2="61264" y2="49383"/>
                        <a14:foregroundMark x1="61102" y1="50617" x2="61102" y2="51852"/>
                        <a14:foregroundMark x1="64668" y1="54321" x2="65478" y2="54321"/>
                        <a14:foregroundMark x1="66937" y1="53704" x2="67585" y2="53395"/>
                        <a14:foregroundMark x1="67585" y1="53395" x2="67585" y2="53395"/>
                        <a14:foregroundMark x1="67747" y1="54938" x2="67747" y2="54938"/>
                        <a14:foregroundMark x1="68395" y1="54938" x2="68395" y2="54938"/>
                        <a14:foregroundMark x1="68882" y1="56790" x2="68882" y2="58025"/>
                        <a14:foregroundMark x1="68720" y1="59259" x2="68720" y2="59259"/>
                        <a14:foregroundMark x1="68720" y1="58642" x2="69044" y2="55556"/>
                        <a14:foregroundMark x1="69044" y1="54321" x2="69044" y2="54321"/>
                        <a14:foregroundMark x1="69044" y1="53704" x2="69044" y2="53704"/>
                        <a14:foregroundMark x1="69044" y1="53086" x2="69044" y2="53086"/>
                        <a14:foregroundMark x1="69044" y1="51235" x2="69044" y2="51235"/>
                        <a14:foregroundMark x1="69044" y1="50617" x2="69044" y2="50617"/>
                        <a14:foregroundMark x1="69368" y1="49691" x2="69530" y2="48457"/>
                        <a14:foregroundMark x1="69692" y1="48148" x2="69692" y2="48148"/>
                        <a14:foregroundMark x1="67585" y1="45062" x2="66613" y2="44753"/>
                        <a14:foregroundMark x1="65964" y1="44444" x2="64668" y2="43210"/>
                        <a14:foregroundMark x1="63533" y1="41975" x2="63533" y2="41975"/>
                        <a14:foregroundMark x1="63209" y1="41975" x2="63209" y2="41975"/>
                        <a14:foregroundMark x1="61750" y1="41975" x2="60616" y2="41975"/>
                        <a14:foregroundMark x1="59806" y1="41975" x2="59806" y2="41975"/>
                        <a14:foregroundMark x1="58671" y1="44444" x2="58671" y2="44444"/>
                        <a14:foregroundMark x1="58509" y1="44753" x2="58509" y2="44753"/>
                        <a14:foregroundMark x1="59157" y1="48765" x2="60454" y2="50926"/>
                        <a14:foregroundMark x1="61912" y1="53395" x2="61912" y2="53395"/>
                        <a14:foregroundMark x1="62075" y1="55556" x2="62075" y2="55556"/>
                        <a14:foregroundMark x1="64019" y1="55864" x2="65640" y2="54938"/>
                        <a14:foregroundMark x1="66775" y1="53395" x2="66775" y2="53395"/>
                        <a14:foregroundMark x1="66775" y1="53086" x2="66126" y2="51235"/>
                        <a14:foregroundMark x1="65964" y1="48765" x2="64830" y2="50926"/>
                        <a14:foregroundMark x1="64668" y1="52160" x2="64668" y2="52160"/>
                        <a14:foregroundMark x1="48947" y1="10185" x2="48947" y2="10185"/>
                        <a14:foregroundMark x1="23015" y1="89506" x2="23015" y2="89506"/>
                      </a14:backgroundRemoval>
                    </a14:imgEffect>
                  </a14:imgLayer>
                </a14:imgProps>
              </a:ext>
              <a:ext uri="{28A0092B-C50C-407E-A947-70E740481C1C}">
                <a14:useLocalDpi xmlns:a14="http://schemas.microsoft.com/office/drawing/2010/main" val="0"/>
              </a:ext>
            </a:extLst>
          </a:blip>
          <a:srcRect/>
          <a:stretch>
            <a:fillRect/>
          </a:stretch>
        </p:blipFill>
        <p:spPr bwMode="auto">
          <a:xfrm>
            <a:off x="400244" y="4357803"/>
            <a:ext cx="5154526" cy="2651601"/>
          </a:xfrm>
          <a:prstGeom prst="rect">
            <a:avLst/>
          </a:prstGeom>
          <a:noFill/>
          <a:extLst>
            <a:ext uri="{909E8E84-426E-40DD-AFC4-6F175D3DCCD1}">
              <a14:hiddenFill xmlns:a14="http://schemas.microsoft.com/office/drawing/2010/main">
                <a:solidFill>
                  <a:srgbClr val="FFFFFF"/>
                </a:solidFill>
              </a14:hiddenFill>
            </a:ext>
          </a:extLst>
        </p:spPr>
      </p:pic>
      <p:pic>
        <p:nvPicPr>
          <p:cNvPr id="7180" name="Picture 12" descr="JavaScript is a security risk &amp; useless for PDF document protection">
            <a:extLst>
              <a:ext uri="{FF2B5EF4-FFF2-40B4-BE49-F238E27FC236}">
                <a16:creationId xmlns:a16="http://schemas.microsoft.com/office/drawing/2014/main" id="{34433E64-5CAD-A432-4F99-A5D92AD591E5}"/>
              </a:ext>
            </a:extLst>
          </p:cNvPr>
          <p:cNvPicPr>
            <a:picLocks noChangeAspect="1" noChangeArrowheads="1"/>
          </p:cNvPicPr>
          <p:nvPr/>
        </p:nvPicPr>
        <p:blipFill>
          <a:blip r:embed="rId8">
            <a:extLst>
              <a:ext uri="{BEBA8EAE-BF5A-486C-A8C5-ECC9F3942E4B}">
                <a14:imgProps xmlns:a14="http://schemas.microsoft.com/office/drawing/2010/main">
                  <a14:imgLayer r:embed="rId9">
                    <a14:imgEffect>
                      <a14:backgroundRemoval t="2778" b="96875" l="9395" r="98330">
                        <a14:foregroundMark x1="30480" y1="87847" x2="30480" y2="87847"/>
                        <a14:foregroundMark x1="31106" y1="88542" x2="31106" y2="88542"/>
                        <a14:foregroundMark x1="30689" y1="91319" x2="30689" y2="91319"/>
                        <a14:foregroundMark x1="80793" y1="83681" x2="80793" y2="83681"/>
                        <a14:foregroundMark x1="94990" y1="97569" x2="94990" y2="97569"/>
                        <a14:foregroundMark x1="94990" y1="97569" x2="94990" y2="97569"/>
                        <a14:foregroundMark x1="94990" y1="94792" x2="94990" y2="94792"/>
                        <a14:foregroundMark x1="94990" y1="94792" x2="94990" y2="94792"/>
                        <a14:foregroundMark x1="91232" y1="89236" x2="91232" y2="89236"/>
                        <a14:foregroundMark x1="91232" y1="89236" x2="91232" y2="89236"/>
                        <a14:foregroundMark x1="90814" y1="89236" x2="90814" y2="89236"/>
                        <a14:foregroundMark x1="90814" y1="89236" x2="90814" y2="89236"/>
                        <a14:foregroundMark x1="86430" y1="85764" x2="86430" y2="85764"/>
                        <a14:foregroundMark x1="86430" y1="85764" x2="86430" y2="85764"/>
                        <a14:foregroundMark x1="86430" y1="85764" x2="89562" y2="87500"/>
                        <a14:foregroundMark x1="89770" y1="87847" x2="99582" y2="94097"/>
                        <a14:foregroundMark x1="99582" y1="94097" x2="86848" y2="96528"/>
                        <a14:foregroundMark x1="86848" y1="96528" x2="72860" y2="80556"/>
                        <a14:foregroundMark x1="72860" y1="80556" x2="98330" y2="92014"/>
                        <a14:foregroundMark x1="73272" y1="32292" x2="73246" y2="32471"/>
                        <a14:foregroundMark x1="73323" y1="31944" x2="73272" y2="32292"/>
                        <a14:foregroundMark x1="73360" y1="31690" x2="73323" y2="31944"/>
                        <a14:foregroundMark x1="71190" y1="30556" x2="71190" y2="30556"/>
                        <a14:backgroundMark x1="89979" y1="23958" x2="78497" y2="24306"/>
                        <a14:backgroundMark x1="78497" y1="24306" x2="82046" y2="39931"/>
                        <a14:backgroundMark x1="82255" y1="34375" x2="77035" y2="17708"/>
                        <a14:backgroundMark x1="75783" y1="22222" x2="75783" y2="22222"/>
                        <a14:backgroundMark x1="75783" y1="22222" x2="75783" y2="22222"/>
                        <a14:backgroundMark x1="76200" y1="19444" x2="76618" y2="17708"/>
                        <a14:backgroundMark x1="76618" y1="17014" x2="76618" y2="17014"/>
                        <a14:backgroundMark x1="76618" y1="17014" x2="76618" y2="17014"/>
                        <a14:backgroundMark x1="77244" y1="16319" x2="77244" y2="16319"/>
                        <a14:backgroundMark x1="77871" y1="15625" x2="77871" y2="15625"/>
                        <a14:backgroundMark x1="78706" y1="15625" x2="79541" y2="15625"/>
                        <a14:backgroundMark x1="79958" y1="16319" x2="80793" y2="16667"/>
                        <a14:backgroundMark x1="81628" y1="17708" x2="82255" y2="19097"/>
                        <a14:backgroundMark x1="83299" y1="21181" x2="89562" y2="26042"/>
                        <a14:backgroundMark x1="74948" y1="22222" x2="77244" y2="26389"/>
                        <a14:backgroundMark x1="76618" y1="44444" x2="71608" y2="29167"/>
                        <a14:backgroundMark x1="71608" y1="29167" x2="74530" y2="12153"/>
                        <a14:backgroundMark x1="74530" y1="12153" x2="92484" y2="36111"/>
                        <a14:backgroundMark x1="92484" y1="36111" x2="83299" y2="46528"/>
                        <a14:backgroundMark x1="83299" y1="46528" x2="77035" y2="45486"/>
                        <a14:backgroundMark x1="77035" y1="44444" x2="74322" y2="26042"/>
                        <a14:backgroundMark x1="74322" y1="26042" x2="91441" y2="41667"/>
                        <a14:backgroundMark x1="91441" y1="41667" x2="83090" y2="35069"/>
                        <a14:backgroundMark x1="79123" y1="44097" x2="74322" y2="21875"/>
                        <a14:backgroundMark x1="74322" y1="21875" x2="72860" y2="20833"/>
                        <a14:backgroundMark x1="73069" y1="21875" x2="73069" y2="21875"/>
                        <a14:backgroundMark x1="73278" y1="22222" x2="73278" y2="22222"/>
                        <a14:backgroundMark x1="74113" y1="22222" x2="74113" y2="22222"/>
                        <a14:backgroundMark x1="74530" y1="22222" x2="74530" y2="22222"/>
                        <a14:backgroundMark x1="73904" y1="23958" x2="72860" y2="23958"/>
                        <a14:backgroundMark x1="72443" y1="23958" x2="72443" y2="23958"/>
                        <a14:backgroundMark x1="72025" y1="23958" x2="72025" y2="23958"/>
                        <a14:backgroundMark x1="71608" y1="22569" x2="71608" y2="22569"/>
                        <a14:backgroundMark x1="72025" y1="22222" x2="72025" y2="22222"/>
                        <a14:backgroundMark x1="73069" y1="21181" x2="73069" y2="21181"/>
                        <a14:backgroundMark x1="73695" y1="20486" x2="73695" y2="20486"/>
                        <a14:backgroundMark x1="74113" y1="19792" x2="74113" y2="19792"/>
                        <a14:backgroundMark x1="74113" y1="20833" x2="73695" y2="22222"/>
                        <a14:backgroundMark x1="72443" y1="23264" x2="72443" y2="23264"/>
                        <a14:backgroundMark x1="73278" y1="21181" x2="73278" y2="21181"/>
                        <a14:backgroundMark x1="73069" y1="20486" x2="73069" y2="20486"/>
                        <a14:backgroundMark x1="72860" y1="22222" x2="72860" y2="23611"/>
                        <a14:backgroundMark x1="73904" y1="22222" x2="74113" y2="19444"/>
                        <a14:backgroundMark x1="74113" y1="18403" x2="74113" y2="18403"/>
                        <a14:backgroundMark x1="73904" y1="18403" x2="73904" y2="18403"/>
                        <a14:backgroundMark x1="74113" y1="19444" x2="74113" y2="19444"/>
                        <a14:backgroundMark x1="74739" y1="21181" x2="74739" y2="21181"/>
                        <a14:backgroundMark x1="74948" y1="23264" x2="74948" y2="23264"/>
                        <a14:backgroundMark x1="74530" y1="24653" x2="74530" y2="24653"/>
                        <a14:backgroundMark x1="73278" y1="25347" x2="73278" y2="25347"/>
                        <a14:backgroundMark x1="73695" y1="27778" x2="73695" y2="27778"/>
                        <a14:backgroundMark x1="74739" y1="28819" x2="74739" y2="28819"/>
                        <a14:backgroundMark x1="74948" y1="29167" x2="74948" y2="29167"/>
                        <a14:backgroundMark x1="71608" y1="27778" x2="71608" y2="27778"/>
                        <a14:backgroundMark x1="70772" y1="27431" x2="70772" y2="27431"/>
                        <a14:backgroundMark x1="70772" y1="27431" x2="70772" y2="27431"/>
                        <a14:backgroundMark x1="72025" y1="28125" x2="72025" y2="28125"/>
                        <a14:backgroundMark x1="72443" y1="29167" x2="72443" y2="29167"/>
                        <a14:backgroundMark x1="72860" y1="29514" x2="72860" y2="29514"/>
                        <a14:backgroundMark x1="73069" y1="30208" x2="73069" y2="30208"/>
                        <a14:backgroundMark x1="73695" y1="31597" x2="73695" y2="31597"/>
                        <a14:backgroundMark x1="73695" y1="31597" x2="73695" y2="31597"/>
                        <a14:backgroundMark x1="72860" y1="30556" x2="72860" y2="30556"/>
                        <a14:backgroundMark x1="71608" y1="30208" x2="71608" y2="30208"/>
                        <a14:backgroundMark x1="71399" y1="28125" x2="71399" y2="28125"/>
                        <a14:backgroundMark x1="71399" y1="27431" x2="71399" y2="27431"/>
                        <a14:backgroundMark x1="72025" y1="26389" x2="72025" y2="26389"/>
                        <a14:backgroundMark x1="72860" y1="26042" x2="72860" y2="26042"/>
                        <a14:backgroundMark x1="72860" y1="26042" x2="72860" y2="26042"/>
                        <a14:backgroundMark x1="72443" y1="27778" x2="72443" y2="27778"/>
                        <a14:backgroundMark x1="72234" y1="28819" x2="72234" y2="28819"/>
                        <a14:backgroundMark x1="72025" y1="29514" x2="72025" y2="29514"/>
                        <a14:backgroundMark x1="72025" y1="30208" x2="72025" y2="30208"/>
                        <a14:backgroundMark x1="72025" y1="30556" x2="72025" y2="30556"/>
                        <a14:backgroundMark x1="72025" y1="30903" x2="72025" y2="30903"/>
                        <a14:backgroundMark x1="72025" y1="31597" x2="72025" y2="31597"/>
                        <a14:backgroundMark x1="72025" y1="31944" x2="72025" y2="31944"/>
                        <a14:backgroundMark x1="72025" y1="31944" x2="71399" y2="30208"/>
                        <a14:backgroundMark x1="71190" y1="29167" x2="71190" y2="29167"/>
                        <a14:backgroundMark x1="71190" y1="28819" x2="71190" y2="28819"/>
                        <a14:backgroundMark x1="71190" y1="28125" x2="71190" y2="28125"/>
                        <a14:backgroundMark x1="71608" y1="26736" x2="71608" y2="26736"/>
                        <a14:backgroundMark x1="72443" y1="25347" x2="72443" y2="25347"/>
                        <a14:backgroundMark x1="73069" y1="23958" x2="73069" y2="23958"/>
                        <a14:backgroundMark x1="73278" y1="23264" x2="73278" y2="23264"/>
                        <a14:backgroundMark x1="73278" y1="23958" x2="73278" y2="23958"/>
                        <a14:backgroundMark x1="72860" y1="25347" x2="72860" y2="25347"/>
                        <a14:backgroundMark x1="72234" y1="26042" x2="72234" y2="26042"/>
                        <a14:backgroundMark x1="72234" y1="24653" x2="72234" y2="24653"/>
                        <a14:backgroundMark x1="73069" y1="24653" x2="73069" y2="24653"/>
                        <a14:backgroundMark x1="71608" y1="25347" x2="71608" y2="25347"/>
                        <a14:backgroundMark x1="72234" y1="25347" x2="72234" y2="25347"/>
                        <a14:backgroundMark x1="71190" y1="26042" x2="71190" y2="24653"/>
                        <a14:backgroundMark x1="72860" y1="26042" x2="72860" y2="26042"/>
                        <a14:backgroundMark x1="72860" y1="23958" x2="74113" y2="23958"/>
                        <a14:backgroundMark x1="73278" y1="23264" x2="73069" y2="20833"/>
                        <a14:backgroundMark x1="75574" y1="21181" x2="75365" y2="26042"/>
                        <a14:backgroundMark x1="73278" y1="20833" x2="74113" y2="19444"/>
                        <a14:backgroundMark x1="74113" y1="20833" x2="74113" y2="20833"/>
                        <a14:backgroundMark x1="75365" y1="26736" x2="75365" y2="26736"/>
                        <a14:backgroundMark x1="75783" y1="31597" x2="76200" y2="33333"/>
                        <a14:backgroundMark x1="76618" y1="34722" x2="76618" y2="34722"/>
                        <a14:backgroundMark x1="76618" y1="37153" x2="76618" y2="37153"/>
                        <a14:backgroundMark x1="76618" y1="37847" x2="76618" y2="37847"/>
                        <a14:backgroundMark x1="77035" y1="39931" x2="77035" y2="39931"/>
                        <a14:backgroundMark x1="77035" y1="41667" x2="77035" y2="41667"/>
                        <a14:backgroundMark x1="77871" y1="39236" x2="76409" y2="35069"/>
                        <a14:backgroundMark x1="75574" y1="33333" x2="75574" y2="33333"/>
                        <a14:backgroundMark x1="76200" y1="34722" x2="76200" y2="36111"/>
                        <a14:backgroundMark x1="76618" y1="37847" x2="76618" y2="37847"/>
                        <a14:backgroundMark x1="76618" y1="40625" x2="76618" y2="40625"/>
                        <a14:backgroundMark x1="76409" y1="43403" x2="76409" y2="43403"/>
                        <a14:backgroundMark x1="76200" y1="42014" x2="76200" y2="42014"/>
                        <a14:backgroundMark x1="75574" y1="42014" x2="75574" y2="42014"/>
                        <a14:backgroundMark x1="75365" y1="42708" x2="75365" y2="42708"/>
                        <a14:backgroundMark x1="73904" y1="27778" x2="73904" y2="27778"/>
                        <a14:backgroundMark x1="73278" y1="28125" x2="73278" y2="28125"/>
                        <a14:backgroundMark x1="72443" y1="28819" x2="72443" y2="28819"/>
                        <a14:backgroundMark x1="71608" y1="29167" x2="71608" y2="29167"/>
                        <a14:backgroundMark x1="72025" y1="30903" x2="72025" y2="30903"/>
                        <a14:backgroundMark x1="72443" y1="31597" x2="72443" y2="31597"/>
                        <a14:backgroundMark x1="72860" y1="31597" x2="72860" y2="31597"/>
                        <a14:backgroundMark x1="72860" y1="31944" x2="72860" y2="31944"/>
                        <a14:backgroundMark x1="73278" y1="32986" x2="73278" y2="32986"/>
                        <a14:backgroundMark x1="73904" y1="33681" x2="73904" y2="33681"/>
                        <a14:backgroundMark x1="74530" y1="35069" x2="74530" y2="35069"/>
                        <a14:backgroundMark x1="76200" y1="38542" x2="76200" y2="38542"/>
                        <a14:backgroundMark x1="77244" y1="39931" x2="77244" y2="39931"/>
                        <a14:backgroundMark x1="77453" y1="40278" x2="77453" y2="40278"/>
                        <a14:backgroundMark x1="77244" y1="38889" x2="77244" y2="38889"/>
                        <a14:backgroundMark x1="76618" y1="37847" x2="76618" y2="37847"/>
                        <a14:backgroundMark x1="76618" y1="38889" x2="76618" y2="38889"/>
                        <a14:backgroundMark x1="76618" y1="40625" x2="76618" y2="40625"/>
                        <a14:backgroundMark x1="75783" y1="42014" x2="75783" y2="42014"/>
                        <a14:backgroundMark x1="76200" y1="41319" x2="76200" y2="41319"/>
                        <a14:backgroundMark x1="76200" y1="38889" x2="75365" y2="36111"/>
                        <a14:backgroundMark x1="74739" y1="34722" x2="74739" y2="34722"/>
                        <a14:backgroundMark x1="73904" y1="33333" x2="73904" y2="33333"/>
                        <a14:backgroundMark x1="73278" y1="32986" x2="73278" y2="32986"/>
                        <a14:backgroundMark x1="72860" y1="32292" x2="72860" y2="32292"/>
                        <a14:backgroundMark x1="71608" y1="31597" x2="71608" y2="31597"/>
                        <a14:backgroundMark x1="71608" y1="30903" x2="71608" y2="30903"/>
                        <a14:backgroundMark x1="72025" y1="30903" x2="72025" y2="30903"/>
                        <a14:backgroundMark x1="72234" y1="30903" x2="72234" y2="30903"/>
                        <a14:backgroundMark x1="73069" y1="31944" x2="73069" y2="31944"/>
                        <a14:backgroundMark x1="73904" y1="33681" x2="73904" y2="33681"/>
                        <a14:backgroundMark x1="74113" y1="34375" x2="74113" y2="34375"/>
                        <a14:backgroundMark x1="74113" y1="33681" x2="77453" y2="47569"/>
                        <a14:backgroundMark x1="20251" y1="8681" x2="20251" y2="8681"/>
                        <a14:backgroundMark x1="20251" y1="8681" x2="20251" y2="8681"/>
                        <a14:backgroundMark x1="20251" y1="8681" x2="20251" y2="8681"/>
                        <a14:backgroundMark x1="27349" y1="11458" x2="15866" y2="8333"/>
                        <a14:backgroundMark x1="15866" y1="8333" x2="23173" y2="10069"/>
                        <a14:backgroundMark x1="24635" y1="13542" x2="22338" y2="11458"/>
                        <a14:backgroundMark x1="25470" y1="13889" x2="13152" y2="17014"/>
                        <a14:backgroundMark x1="13152" y1="17014" x2="21712" y2="5903"/>
                        <a14:backgroundMark x1="21712" y1="5903" x2="26514" y2="13542"/>
                        <a14:backgroundMark x1="22129" y1="2778" x2="15240" y2="5903"/>
                        <a14:backgroundMark x1="15449" y1="3125" x2="24635" y2="4167"/>
                        <a14:backgroundMark x1="19624" y1="6944" x2="25470" y2="6944"/>
                        <a14:backgroundMark x1="17119" y1="6597" x2="17119" y2="6597"/>
                        <a14:backgroundMark x1="23591" y1="5903" x2="15449" y2="6944"/>
                        <a14:backgroundMark x1="23800" y1="5556" x2="23800" y2="5556"/>
                      </a14:backgroundRemoval>
                    </a14:imgEffect>
                  </a14:imgLayer>
                </a14:imgProps>
              </a:ext>
              <a:ext uri="{28A0092B-C50C-407E-A947-70E740481C1C}">
                <a14:useLocalDpi xmlns:a14="http://schemas.microsoft.com/office/drawing/2010/main" val="0"/>
              </a:ext>
            </a:extLst>
          </a:blip>
          <a:srcRect/>
          <a:stretch>
            <a:fillRect/>
          </a:stretch>
        </p:blipFill>
        <p:spPr bwMode="auto">
          <a:xfrm>
            <a:off x="5094502" y="3985086"/>
            <a:ext cx="3457468" cy="20788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7080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9C59E-BC56-74E0-845E-AE524EC0AAC6}"/>
              </a:ext>
            </a:extLst>
          </p:cNvPr>
          <p:cNvSpPr>
            <a:spLocks noGrp="1"/>
          </p:cNvSpPr>
          <p:nvPr>
            <p:ph type="ctrTitle"/>
          </p:nvPr>
        </p:nvSpPr>
        <p:spPr>
          <a:xfrm>
            <a:off x="1379369" y="0"/>
            <a:ext cx="9001462" cy="944563"/>
          </a:xfrm>
        </p:spPr>
        <p:txBody>
          <a:bodyPr/>
          <a:lstStyle/>
          <a:p>
            <a:r>
              <a:rPr lang="ar-EG" dirty="0">
                <a:solidFill>
                  <a:srgbClr val="FF0000"/>
                </a:solidFill>
              </a:rPr>
              <a:t>اخطر انواع الملفات </a:t>
            </a:r>
            <a:endParaRPr lang="en-US" dirty="0">
              <a:solidFill>
                <a:srgbClr val="FF0000"/>
              </a:solidFill>
            </a:endParaRPr>
          </a:p>
        </p:txBody>
      </p:sp>
      <p:sp>
        <p:nvSpPr>
          <p:cNvPr id="4" name="Rectangle 1">
            <a:extLst>
              <a:ext uri="{FF2B5EF4-FFF2-40B4-BE49-F238E27FC236}">
                <a16:creationId xmlns:a16="http://schemas.microsoft.com/office/drawing/2014/main" id="{BA071BC7-46B8-2128-A66B-BFE2F5CA5010}"/>
              </a:ext>
            </a:extLst>
          </p:cNvPr>
          <p:cNvSpPr>
            <a:spLocks noGrp="1" noChangeArrowheads="1"/>
          </p:cNvSpPr>
          <p:nvPr>
            <p:ph type="subTitle" idx="1"/>
          </p:nvPr>
        </p:nvSpPr>
        <p:spPr bwMode="auto">
          <a:xfrm>
            <a:off x="0" y="944563"/>
            <a:ext cx="12184682" cy="2101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342900" marR="0" lvl="0" indent="-342900" algn="r" defTabSz="914400" rtl="1"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ar-SA" altLang="en-US" b="1" i="0" u="none" strike="noStrike" cap="none" normalizeH="0" baseline="0" dirty="0">
                <a:ln>
                  <a:noFill/>
                </a:ln>
                <a:solidFill>
                  <a:srgbClr val="00B0F0"/>
                </a:solidFill>
                <a:effectLst/>
                <a:latin typeface="Arial" panose="020B0604020202020204" pitchFamily="34" charset="0"/>
                <a:cs typeface="Arial" panose="020B0604020202020204" pitchFamily="34" charset="0"/>
              </a:rPr>
              <a:t>ملفات السكريبت</a:t>
            </a:r>
            <a:r>
              <a:rPr kumimoji="0" lang="en-US" altLang="en-US" b="1" i="0" u="none" strike="noStrike" cap="none" normalizeH="0" baseline="0" dirty="0">
                <a:ln>
                  <a:noFill/>
                </a:ln>
                <a:solidFill>
                  <a:srgbClr val="00B0F0"/>
                </a:solidFill>
                <a:effectLst/>
                <a:latin typeface="Arial" panose="020B0604020202020204" pitchFamily="34" charset="0"/>
                <a:cs typeface="Arial" panose="020B0604020202020204" pitchFamily="34" charset="0"/>
              </a:rPr>
              <a:t> </a:t>
            </a:r>
            <a:r>
              <a:rPr kumimoji="0" lang="en-US" altLang="en-US" sz="2000" b="1" i="0" u="none" strike="noStrike" cap="none" normalizeH="0" baseline="0" dirty="0">
                <a:ln>
                  <a:noFill/>
                </a:ln>
                <a:solidFill>
                  <a:srgbClr val="00B0F0"/>
                </a:solidFill>
                <a:effectLst/>
                <a:latin typeface="Arial" panose="020B0604020202020204" pitchFamily="34" charset="0"/>
                <a:cs typeface="Arial" panose="020B0604020202020204" pitchFamily="34" charset="0"/>
              </a:rPr>
              <a:t>(PHP, ASP, JSP, Py</a:t>
            </a:r>
            <a:r>
              <a:rPr kumimoji="0" lang="en-US" altLang="en-US" b="1" i="0" u="none" strike="noStrike" cap="none" normalizeH="0" baseline="0" dirty="0">
                <a:ln>
                  <a:noFill/>
                </a:ln>
                <a:solidFill>
                  <a:srgbClr val="00B0F0"/>
                </a:solidFill>
                <a:effectLst/>
                <a:latin typeface="Arial" panose="020B0604020202020204" pitchFamily="34" charset="0"/>
                <a:cs typeface="Arial" panose="020B0604020202020204" pitchFamily="34" charset="0"/>
              </a:rPr>
              <a:t>):</a:t>
            </a:r>
            <a:r>
              <a:rPr kumimoji="0" lang="en-US" altLang="en-US" b="0" i="0" u="none" strike="noStrike" cap="none" normalizeH="0" baseline="0" dirty="0">
                <a:ln>
                  <a:noFill/>
                </a:ln>
                <a:solidFill>
                  <a:srgbClr val="00B0F0"/>
                </a:solidFill>
                <a:effectLst/>
                <a:latin typeface="Arial" panose="020B0604020202020204" pitchFamily="34" charset="0"/>
                <a:cs typeface="Arial" panose="020B0604020202020204" pitchFamily="34" charset="0"/>
              </a:rPr>
              <a:t> </a:t>
            </a:r>
            <a:r>
              <a:rPr kumimoji="0" lang="ar-SA"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تسمح بتنفيذ الأوامر البرمجية والوصول المباشر لقواعد البيانات وملفات النظام</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endParaRPr kumimoji="0" lang="en-US" altLang="en-US" b="0" i="0" u="none" strike="noStrike" cap="none" normalizeH="0" baseline="0" dirty="0">
              <a:ln>
                <a:noFill/>
              </a:ln>
              <a:solidFill>
                <a:schemeClr val="tx1"/>
              </a:solidFill>
              <a:effectLst/>
            </a:endParaRPr>
          </a:p>
          <a:p>
            <a:pPr marL="342900" marR="0" lvl="0" indent="-342900" algn="r" defTabSz="914400" rtl="1"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ar-SA" altLang="en-US" b="1" i="0" u="none" strike="noStrike" cap="none" normalizeH="0" baseline="0" dirty="0">
                <a:ln>
                  <a:noFill/>
                </a:ln>
                <a:solidFill>
                  <a:schemeClr val="accent5"/>
                </a:solidFill>
                <a:effectLst/>
                <a:latin typeface="Arial" panose="020B0604020202020204" pitchFamily="34" charset="0"/>
                <a:cs typeface="Arial" panose="020B0604020202020204" pitchFamily="34" charset="0"/>
              </a:rPr>
              <a:t>ملفات الـ</a:t>
            </a:r>
            <a:r>
              <a:rPr kumimoji="0" lang="en-US" altLang="en-US" b="1" i="0" u="none" strike="noStrike" cap="none" normalizeH="0" baseline="0" dirty="0">
                <a:ln>
                  <a:noFill/>
                </a:ln>
                <a:solidFill>
                  <a:schemeClr val="accent5"/>
                </a:solidFill>
                <a:effectLst/>
                <a:latin typeface="Arial" panose="020B0604020202020204" pitchFamily="34" charset="0"/>
                <a:cs typeface="Arial" panose="020B0604020202020204" pitchFamily="34" charset="0"/>
              </a:rPr>
              <a:t> Web Shell:</a:t>
            </a:r>
            <a:r>
              <a:rPr kumimoji="0" lang="en-US" altLang="en-US" b="0" i="0" u="none" strike="noStrike" cap="none" normalizeH="0" baseline="0" dirty="0">
                <a:ln>
                  <a:noFill/>
                </a:ln>
                <a:solidFill>
                  <a:schemeClr val="accent5"/>
                </a:solidFill>
                <a:effectLst/>
                <a:latin typeface="Arial" panose="020B0604020202020204" pitchFamily="34" charset="0"/>
                <a:cs typeface="Arial" panose="020B0604020202020204" pitchFamily="34" charset="0"/>
              </a:rPr>
              <a:t> </a:t>
            </a:r>
            <a:r>
              <a:rPr kumimoji="0" lang="ar-SA"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تُستخدم كواجهة تحكم بعيدة لإعطاء المخترق صلاحيات كاملة على خادم الويب</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endParaRPr kumimoji="0" lang="en-US" altLang="en-US" b="0" i="0" u="none" strike="noStrike" cap="none" normalizeH="0" baseline="0" dirty="0">
              <a:ln>
                <a:noFill/>
              </a:ln>
              <a:solidFill>
                <a:schemeClr val="tx1"/>
              </a:solidFill>
              <a:effectLst/>
            </a:endParaRPr>
          </a:p>
          <a:p>
            <a:pPr marL="342900" marR="0" lvl="0" indent="-342900" algn="r" defTabSz="914400" rtl="1"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ar-SA" altLang="en-US" b="1" i="0" u="none" strike="noStrike" cap="none" normalizeH="0" baseline="0" dirty="0">
                <a:ln>
                  <a:noFill/>
                </a:ln>
                <a:solidFill>
                  <a:srgbClr val="FFFF00"/>
                </a:solidFill>
                <a:effectLst/>
                <a:latin typeface="Arial" panose="020B0604020202020204" pitchFamily="34" charset="0"/>
                <a:cs typeface="Arial" panose="020B0604020202020204" pitchFamily="34" charset="0"/>
              </a:rPr>
              <a:t>ملفات التنفيذ المباشر</a:t>
            </a:r>
            <a:r>
              <a:rPr kumimoji="0" lang="en-US" altLang="en-US" b="1" i="0" u="none" strike="noStrike" cap="none" normalizeH="0" baseline="0" dirty="0">
                <a:ln>
                  <a:noFill/>
                </a:ln>
                <a:solidFill>
                  <a:srgbClr val="FFFF00"/>
                </a:solidFill>
                <a:effectLst/>
                <a:latin typeface="Arial" panose="020B0604020202020204" pitchFamily="34" charset="0"/>
                <a:cs typeface="Arial" panose="020B0604020202020204" pitchFamily="34" charset="0"/>
              </a:rPr>
              <a:t> </a:t>
            </a:r>
            <a:r>
              <a:rPr kumimoji="0" lang="en-US" altLang="en-US" sz="2000" b="1" i="0" u="none" strike="noStrike" cap="none" normalizeH="0" baseline="0" dirty="0">
                <a:ln>
                  <a:noFill/>
                </a:ln>
                <a:solidFill>
                  <a:srgbClr val="FFFF00"/>
                </a:solidFill>
                <a:effectLst/>
                <a:latin typeface="Arial" panose="020B0604020202020204" pitchFamily="34" charset="0"/>
                <a:cs typeface="Arial" panose="020B0604020202020204" pitchFamily="34" charset="0"/>
              </a:rPr>
              <a:t>(EXE, </a:t>
            </a:r>
            <a:r>
              <a:rPr kumimoji="0" lang="en-US" altLang="en-US" sz="2000" b="1" i="0" u="none" strike="noStrike" cap="none" normalizeH="0" baseline="0" dirty="0" err="1">
                <a:ln>
                  <a:noFill/>
                </a:ln>
                <a:solidFill>
                  <a:srgbClr val="FFFF00"/>
                </a:solidFill>
                <a:effectLst/>
                <a:latin typeface="Arial" panose="020B0604020202020204" pitchFamily="34" charset="0"/>
                <a:cs typeface="Arial" panose="020B0604020202020204" pitchFamily="34" charset="0"/>
              </a:rPr>
              <a:t>Sh</a:t>
            </a:r>
            <a:r>
              <a:rPr kumimoji="0" lang="en-US" altLang="en-US" sz="2000" b="1" i="0" u="none" strike="noStrike" cap="none" normalizeH="0" baseline="0" dirty="0">
                <a:ln>
                  <a:noFill/>
                </a:ln>
                <a:solidFill>
                  <a:srgbClr val="FFFF00"/>
                </a:solidFill>
                <a:effectLst/>
                <a:latin typeface="Arial" panose="020B0604020202020204" pitchFamily="34" charset="0"/>
                <a:cs typeface="Arial" panose="020B0604020202020204" pitchFamily="34" charset="0"/>
              </a:rPr>
              <a:t>, Bat):</a:t>
            </a:r>
            <a:r>
              <a:rPr kumimoji="0" lang="en-US" altLang="en-US" sz="20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 </a:t>
            </a:r>
            <a:r>
              <a:rPr kumimoji="0" lang="ar-SA"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تستهدف الأنظمة الداخلية في حال تم تنزيلها وتشغيلها بالغلط من مسؤول النظام</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endParaRPr kumimoji="0" lang="ar-EG"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pic>
        <p:nvPicPr>
          <p:cNvPr id="6149" name="Picture 5" descr="Script Code Icon Isolated on White Background Flat Style Stock Vector - Illustration of pictogram, linear: 213263045">
            <a:extLst>
              <a:ext uri="{FF2B5EF4-FFF2-40B4-BE49-F238E27FC236}">
                <a16:creationId xmlns:a16="http://schemas.microsoft.com/office/drawing/2014/main" id="{8C929E48-9F95-7DE8-F56E-ACC58B6E55C6}"/>
              </a:ext>
            </a:extLst>
          </p:cNvPr>
          <p:cNvPicPr>
            <a:picLocks noChangeAspect="1" noChangeArrowheads="1"/>
          </p:cNvPicPr>
          <p:nvPr/>
        </p:nvPicPr>
        <p:blipFill>
          <a:blip r:embed="rId2">
            <a:alphaModFix/>
            <a:extLst>
              <a:ext uri="{BEBA8EAE-BF5A-486C-A8C5-ECC9F3942E4B}">
                <a14:imgProps xmlns:a14="http://schemas.microsoft.com/office/drawing/2010/main">
                  <a14:imgLayer r:embed="rId3">
                    <a14:imgEffect>
                      <a14:backgroundRemoval t="10000" b="90000" l="10000" r="90000">
                        <a14:foregroundMark x1="21480" y1="31588" x2="21480" y2="31588"/>
                        <a14:foregroundMark x1="24188" y1="31588" x2="24188" y2="31588"/>
                        <a14:foregroundMark x1="56679" y1="52527" x2="56679" y2="52527"/>
                        <a14:foregroundMark x1="55957" y1="53249" x2="55957" y2="53249"/>
                        <a14:foregroundMark x1="55957" y1="53249" x2="55957" y2="53249"/>
                        <a14:foregroundMark x1="61552" y1="57040" x2="61552" y2="57040"/>
                        <a14:foregroundMark x1="64260" y1="54152" x2="64260" y2="54152"/>
                        <a14:foregroundMark x1="27437" y1="39531" x2="27437" y2="39531"/>
                        <a14:foregroundMark x1="27437" y1="39531" x2="27437" y2="39531"/>
                        <a14:foregroundMark x1="27798" y1="39531" x2="27798" y2="39531"/>
                        <a14:foregroundMark x1="30144" y1="39531" x2="29783" y2="41697"/>
                        <a14:foregroundMark x1="21841" y1="49458" x2="21841" y2="49458"/>
                        <a14:foregroundMark x1="21119" y1="50000" x2="21119" y2="50000"/>
                        <a14:foregroundMark x1="20036" y1="50722" x2="20036" y2="50722"/>
                        <a14:foregroundMark x1="19134" y1="51625" x2="18773" y2="52888"/>
                        <a14:foregroundMark x1="18773" y1="52888" x2="18773" y2="52888"/>
                        <a14:foregroundMark x1="20397" y1="52888" x2="14440" y2="55776"/>
                        <a14:foregroundMark x1="12094" y1="56137" x2="12094" y2="56137"/>
                        <a14:foregroundMark x1="16065" y1="55415" x2="19495" y2="55054"/>
                        <a14:foregroundMark x1="22383" y1="54513" x2="26173" y2="54513"/>
                        <a14:foregroundMark x1="36462" y1="55415" x2="36462" y2="55415"/>
                        <a14:foregroundMark x1="37184" y1="55415" x2="37184" y2="55415"/>
                        <a14:foregroundMark x1="32491" y1="56137" x2="30866" y2="56137"/>
                        <a14:foregroundMark x1="43863" y1="55776" x2="61913" y2="55776"/>
                        <a14:foregroundMark x1="61913" y1="55776" x2="41155" y2="55415"/>
                        <a14:foregroundMark x1="40253" y1="55415" x2="66606" y2="51625"/>
                        <a14:foregroundMark x1="74368" y1="47473" x2="55596" y2="49458"/>
                        <a14:foregroundMark x1="55235" y1="50000" x2="79061" y2="46570"/>
                        <a14:foregroundMark x1="79422" y1="46570" x2="76715" y2="49097"/>
                        <a14:foregroundMark x1="78339" y1="51264" x2="78339" y2="51264"/>
                        <a14:foregroundMark x1="78700" y1="52527" x2="83032" y2="52888"/>
                        <a14:foregroundMark x1="83394" y1="53249" x2="80325" y2="56679"/>
                        <a14:foregroundMark x1="83394" y1="56679" x2="83394" y2="56679"/>
                        <a14:foregroundMark x1="85379" y1="54152" x2="85379" y2="54152"/>
                        <a14:foregroundMark x1="85740" y1="53791" x2="83755" y2="55415"/>
                        <a14:foregroundMark x1="79061" y1="55776" x2="78339" y2="54152"/>
                        <a14:foregroundMark x1="78339" y1="53791" x2="78339" y2="53791"/>
                        <a14:foregroundMark x1="75993" y1="55415" x2="74368" y2="56137"/>
                        <a14:foregroundMark x1="75632" y1="50722" x2="75632" y2="50722"/>
                        <a14:foregroundMark x1="75632" y1="54152" x2="74729" y2="49458"/>
                        <a14:foregroundMark x1="74368" y1="48375" x2="67690" y2="55054"/>
                        <a14:foregroundMark x1="61913" y1="57040" x2="59928" y2="56679"/>
                        <a14:foregroundMark x1="58303" y1="55776" x2="53249" y2="55776"/>
                        <a14:foregroundMark x1="50903" y1="56137" x2="46570" y2="55776"/>
                        <a14:foregroundMark x1="43141" y1="55415" x2="43141" y2="55415"/>
                        <a14:foregroundMark x1="41877" y1="54513" x2="40253" y2="53791"/>
                        <a14:foregroundMark x1="39170" y1="53249" x2="39170" y2="53249"/>
                        <a14:foregroundMark x1="38809" y1="53249" x2="38809" y2="53249"/>
                        <a14:foregroundMark x1="37184" y1="54152" x2="37184" y2="54152"/>
                        <a14:foregroundMark x1="36823" y1="55054" x2="36823" y2="55054"/>
                        <a14:foregroundMark x1="36823" y1="56137" x2="36823" y2="56137"/>
                        <a14:foregroundMark x1="36823" y1="56679" x2="36823" y2="56679"/>
                        <a14:foregroundMark x1="36101" y1="55776" x2="36101" y2="55776"/>
                        <a14:foregroundMark x1="36101" y1="54513" x2="36101" y2="54513"/>
                        <a14:foregroundMark x1="36462" y1="54152" x2="36462" y2="54152"/>
                        <a14:foregroundMark x1="37545" y1="53249" x2="37545" y2="53249"/>
                        <a14:foregroundMark x1="38448" y1="52527" x2="38448" y2="52527"/>
                        <a14:foregroundMark x1="37545" y1="51986" x2="37545" y2="51986"/>
                        <a14:foregroundMark x1="36462" y1="51986" x2="36462" y2="51986"/>
                        <a14:foregroundMark x1="35560" y1="51986" x2="35560" y2="51986"/>
                        <a14:foregroundMark x1="85018" y1="31949" x2="85018" y2="31949"/>
                        <a14:foregroundMark x1="85018" y1="31949" x2="85018" y2="31949"/>
                        <a14:foregroundMark x1="83394" y1="31588" x2="83394" y2="31588"/>
                        <a14:foregroundMark x1="82130" y1="31227" x2="82130" y2="31227"/>
                        <a14:foregroundMark x1="81047" y1="30325" x2="81047" y2="30325"/>
                        <a14:foregroundMark x1="79783" y1="30325" x2="79783" y2="30325"/>
                        <a14:foregroundMark x1="78700" y1="30325" x2="77437" y2="30325"/>
                        <a14:foregroundMark x1="76715" y1="30325" x2="76715" y2="30325"/>
                        <a14:foregroundMark x1="74007" y1="30325" x2="74007" y2="30325"/>
                        <a14:foregroundMark x1="72022" y1="30325" x2="70939" y2="30325"/>
                        <a14:foregroundMark x1="70036" y1="30325" x2="68592" y2="30866"/>
                        <a14:foregroundMark x1="66968" y1="30866" x2="65343" y2="31227"/>
                        <a14:foregroundMark x1="64260" y1="31227" x2="64260" y2="31227"/>
                        <a14:foregroundMark x1="62996" y1="31227" x2="62996" y2="31227"/>
                        <a14:foregroundMark x1="69314" y1="33755" x2="69314" y2="33755"/>
                        <a14:foregroundMark x1="69675" y1="35018" x2="69675" y2="35018"/>
                        <a14:foregroundMark x1="69675" y1="35379" x2="69675" y2="35379"/>
                        <a14:foregroundMark x1="70036" y1="34477" x2="70036" y2="34477"/>
                        <a14:foregroundMark x1="70036" y1="34477" x2="70036" y2="34477"/>
                        <a14:foregroundMark x1="68953" y1="34477" x2="68953" y2="34477"/>
                        <a14:foregroundMark x1="67329" y1="34477" x2="67329" y2="34477"/>
                        <a14:foregroundMark x1="65704" y1="34477" x2="65704" y2="34477"/>
                        <a14:foregroundMark x1="64621" y1="34477" x2="64621" y2="34477"/>
                        <a14:foregroundMark x1="63357" y1="34477" x2="63357" y2="34477"/>
                        <a14:foregroundMark x1="62274" y1="34116" x2="62274" y2="34116"/>
                        <a14:foregroundMark x1="60650" y1="33755" x2="60650" y2="33755"/>
                        <a14:foregroundMark x1="59928" y1="33213" x2="59928" y2="33213"/>
                        <a14:foregroundMark x1="59206" y1="32852" x2="59206" y2="32852"/>
                        <a14:foregroundMark x1="58303" y1="32852" x2="58303" y2="32852"/>
                        <a14:foregroundMark x1="57942" y1="32852" x2="57942" y2="32852"/>
                        <a14:foregroundMark x1="57581" y1="32852" x2="57581" y2="32852"/>
                        <a14:foregroundMark x1="56679" y1="32852" x2="56679" y2="32852"/>
                        <a14:foregroundMark x1="55596" y1="33755" x2="55596" y2="33755"/>
                        <a14:foregroundMark x1="54332" y1="34477" x2="54332" y2="34477"/>
                        <a14:foregroundMark x1="53610" y1="35379" x2="53610" y2="35379"/>
                        <a14:foregroundMark x1="51625" y1="35379" x2="50542" y2="35379"/>
                        <a14:foregroundMark x1="49278" y1="35379" x2="47834" y2="35018"/>
                        <a14:foregroundMark x1="47834" y1="35018" x2="30325" y2="37004"/>
                        <a14:foregroundMark x1="30325" y1="37004" x2="21480" y2="35018"/>
                        <a14:foregroundMark x1="11372" y1="35740" x2="10108" y2="35740"/>
                        <a14:foregroundMark x1="57942" y1="36282" x2="57942" y2="36282"/>
                        <a14:foregroundMark x1="72022" y1="34116" x2="72022" y2="34116"/>
                        <a14:foregroundMark x1="73646" y1="34116" x2="73646" y2="34116"/>
                        <a14:foregroundMark x1="74729" y1="34116" x2="89892" y2="35379"/>
                        <a14:foregroundMark x1="89892" y1="35379" x2="70939" y2="36282"/>
                      </a14:backgroundRemoval>
                    </a14:imgEffect>
                  </a14:imgLayer>
                </a14:imgProps>
              </a:ext>
              <a:ext uri="{28A0092B-C50C-407E-A947-70E740481C1C}">
                <a14:useLocalDpi xmlns:a14="http://schemas.microsoft.com/office/drawing/2010/main" val="0"/>
              </a:ext>
            </a:extLst>
          </a:blip>
          <a:srcRect/>
          <a:stretch>
            <a:fillRect/>
          </a:stretch>
        </p:blipFill>
        <p:spPr bwMode="auto">
          <a:xfrm>
            <a:off x="8940801" y="3822033"/>
            <a:ext cx="3243882" cy="304590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6151" name="Picture 7" descr="1,083 Backdoor Icon Stock Vectors and Vector Art | Shutterstock">
            <a:extLst>
              <a:ext uri="{FF2B5EF4-FFF2-40B4-BE49-F238E27FC236}">
                <a16:creationId xmlns:a16="http://schemas.microsoft.com/office/drawing/2014/main" id="{E4B8C2AC-AEDF-1739-1B8D-CC1B72F29BF8}"/>
              </a:ext>
            </a:extLst>
          </p:cNvPr>
          <p:cNvPicPr>
            <a:picLocks noChangeAspect="1" noChangeArrowheads="1"/>
          </p:cNvPicPr>
          <p:nvPr/>
        </p:nvPicPr>
        <p:blipFill rotWithShape="1">
          <a:blip r:embed="rId4">
            <a:alphaModFix amt="85000"/>
            <a:extLst>
              <a:ext uri="{BEBA8EAE-BF5A-486C-A8C5-ECC9F3942E4B}">
                <a14:imgProps xmlns:a14="http://schemas.microsoft.com/office/drawing/2010/main">
                  <a14:imgLayer r:embed="rId5">
                    <a14:imgEffect>
                      <a14:backgroundRemoval t="2143" b="84286" l="10000" r="90000">
                        <a14:foregroundMark x1="49231" y1="54643" x2="49231" y2="54643"/>
                        <a14:foregroundMark x1="46154" y1="48214" x2="46154" y2="48214"/>
                        <a14:foregroundMark x1="45000" y1="48214" x2="43846" y2="47857"/>
                        <a14:foregroundMark x1="38462" y1="44286" x2="36538" y2="43571"/>
                        <a14:foregroundMark x1="32692" y1="42500" x2="31154" y2="41429"/>
                        <a14:foregroundMark x1="31538" y1="37857" x2="37692" y2="36429"/>
                        <a14:foregroundMark x1="50000" y1="37857" x2="61538" y2="39286"/>
                        <a14:foregroundMark x1="71538" y1="41071" x2="71538" y2="41071"/>
                        <a14:foregroundMark x1="75385" y1="43214" x2="76538" y2="43929"/>
                        <a14:foregroundMark x1="76923" y1="46429" x2="76923" y2="47500"/>
                        <a14:foregroundMark x1="61923" y1="73214" x2="76923" y2="63929"/>
                        <a14:foregroundMark x1="76923" y1="63929" x2="71154" y2="22500"/>
                        <a14:foregroundMark x1="71154" y1="22500" x2="51590" y2="10460"/>
                        <a14:foregroundMark x1="17072" y1="11458" x2="12308" y2="13571"/>
                        <a14:foregroundMark x1="21023" y1="9706" x2="20449" y2="9960"/>
                        <a14:foregroundMark x1="23580" y1="8571" x2="23382" y2="8659"/>
                        <a14:foregroundMark x1="23933" y1="8415" x2="23580" y2="8571"/>
                        <a14:foregroundMark x1="26091" y1="7458" x2="25957" y2="7517"/>
                        <a14:foregroundMark x1="27756" y1="6720" x2="26975" y2="7066"/>
                        <a14:foregroundMark x1="12308" y1="13571" x2="47692" y2="58571"/>
                        <a14:foregroundMark x1="47692" y1="58571" x2="55000" y2="57500"/>
                        <a14:foregroundMark x1="52692" y1="44643" x2="36538" y2="50357"/>
                        <a14:foregroundMark x1="36538" y1="50357" x2="55769" y2="56429"/>
                        <a14:foregroundMark x1="55769" y1="56429" x2="24615" y2="54643"/>
                        <a14:foregroundMark x1="24615" y1="54643" x2="29231" y2="44286"/>
                        <a14:foregroundMark x1="26923" y1="35357" x2="26923" y2="35357"/>
                        <a14:foregroundMark x1="33462" y1="28214" x2="36154" y2="26786"/>
                        <a14:foregroundMark x1="37308" y1="25714" x2="37308" y2="24286"/>
                        <a14:foregroundMark x1="37308" y1="24286" x2="37308" y2="24286"/>
                        <a14:foregroundMark x1="46154" y1="22500" x2="51154" y2="22500"/>
                        <a14:foregroundMark x1="53846" y1="22500" x2="55385" y2="22143"/>
                        <a14:foregroundMark x1="59231" y1="24286" x2="62308" y2="28929"/>
                        <a14:foregroundMark x1="63077" y1="28929" x2="40385" y2="21071"/>
                        <a14:foregroundMark x1="35769" y1="21786" x2="35769" y2="21786"/>
                        <a14:foregroundMark x1="48846" y1="27857" x2="50769" y2="29643"/>
                        <a14:foregroundMark x1="48077" y1="35714" x2="30385" y2="31429"/>
                        <a14:foregroundMark x1="23846" y1="27500" x2="54615" y2="39643"/>
                        <a14:foregroundMark x1="75000" y1="53214" x2="73462" y2="54643"/>
                        <a14:foregroundMark x1="69615" y1="56429" x2="69615" y2="56429"/>
                        <a14:foregroundMark x1="69615" y1="48214" x2="60769" y2="40000"/>
                        <a14:foregroundMark x1="58462" y1="40357" x2="58846" y2="45714"/>
                        <a14:foregroundMark x1="63077" y1="49643" x2="63077" y2="49643"/>
                        <a14:foregroundMark x1="63077" y1="55357" x2="63077" y2="55357"/>
                        <a14:foregroundMark x1="52692" y1="57500" x2="51538" y2="58214"/>
                        <a14:foregroundMark x1="55385" y1="61429" x2="60769" y2="62857"/>
                        <a14:foregroundMark x1="61538" y1="62857" x2="61538" y2="62857"/>
                        <a14:foregroundMark x1="78462" y1="68571" x2="78462" y2="68571"/>
                        <a14:foregroundMark x1="80000" y1="68214" x2="80000" y2="68214"/>
                        <a14:foregroundMark x1="80385" y1="67143" x2="80385" y2="67143"/>
                        <a14:foregroundMark x1="81538" y1="62500" x2="81538" y2="62500"/>
                        <a14:foregroundMark x1="82308" y1="58929" x2="82308" y2="58929"/>
                        <a14:foregroundMark x1="85000" y1="60357" x2="85000" y2="62143"/>
                        <a14:foregroundMark x1="85000" y1="65000" x2="85000" y2="66429"/>
                        <a14:foregroundMark x1="84615" y1="67143" x2="84615" y2="67143"/>
                        <a14:foregroundMark x1="83462" y1="62143" x2="83462" y2="60000"/>
                        <a14:foregroundMark x1="84231" y1="58929" x2="84231" y2="58929"/>
                        <a14:foregroundMark x1="83846" y1="55357" x2="83846" y2="52500"/>
                        <a14:foregroundMark x1="83846" y1="50714" x2="83846" y2="50714"/>
                        <a14:foregroundMark x1="83462" y1="48929" x2="83462" y2="48929"/>
                        <a14:foregroundMark x1="83462" y1="44286" x2="83077" y2="43214"/>
                        <a14:foregroundMark x1="83077" y1="40000" x2="83077" y2="38571"/>
                        <a14:foregroundMark x1="83077" y1="33571" x2="82308" y2="30714"/>
                        <a14:foregroundMark x1="82308" y1="30357" x2="82308" y2="30357"/>
                        <a14:foregroundMark x1="82308" y1="30357" x2="82308" y2="30357"/>
                        <a14:foregroundMark x1="81538" y1="19643" x2="81538" y2="19643"/>
                        <a14:foregroundMark x1="81154" y1="18929" x2="78462" y2="18214"/>
                        <a14:foregroundMark x1="77308" y1="18214" x2="77308" y2="18214"/>
                        <a14:foregroundMark x1="74231" y1="17500" x2="74231" y2="17500"/>
                        <a14:foregroundMark x1="82692" y1="16429" x2="82692" y2="16429"/>
                        <a14:foregroundMark x1="81538" y1="16429" x2="63846" y2="16429"/>
                        <a14:foregroundMark x1="57692" y1="14643" x2="53846" y2="14286"/>
                        <a14:foregroundMark x1="45457" y1="13571" x2="44615" y2="13571"/>
                        <a14:foregroundMark x1="49615" y1="13571" x2="47148" y2="13571"/>
                        <a14:foregroundMark x1="41923" y1="13571" x2="41923" y2="13571"/>
                        <a14:foregroundMark x1="41923" y1="13571" x2="37308" y2="13571"/>
                        <a14:foregroundMark x1="33077" y1="13214" x2="31538" y2="13214"/>
                        <a14:foregroundMark x1="26923" y1="13571" x2="25000" y2="13929"/>
                        <a14:foregroundMark x1="23077" y1="14643" x2="23077" y2="14643"/>
                        <a14:foregroundMark x1="22692" y1="14643" x2="22692" y2="14643"/>
                        <a14:foregroundMark x1="30385" y1="15357" x2="25769" y2="17143"/>
                        <a14:foregroundMark x1="23462" y1="18214" x2="23462" y2="21071"/>
                        <a14:foregroundMark x1="23462" y1="25000" x2="23077" y2="27143"/>
                        <a14:foregroundMark x1="18846" y1="31429" x2="18846" y2="31429"/>
                        <a14:foregroundMark x1="18846" y1="31429" x2="18846" y2="31429"/>
                        <a14:foregroundMark x1="18462" y1="32143" x2="17692" y2="33929"/>
                        <a14:foregroundMark x1="17692" y1="34286" x2="17692" y2="34286"/>
                        <a14:foregroundMark x1="17692" y1="27857" x2="17692" y2="26429"/>
                        <a14:foregroundMark x1="17308" y1="26429" x2="17308" y2="26429"/>
                        <a14:foregroundMark x1="16923" y1="32500" x2="17692" y2="34643"/>
                        <a14:foregroundMark x1="18077" y1="36786" x2="18846" y2="38929"/>
                        <a14:foregroundMark x1="19231" y1="41429" x2="19615" y2="44286"/>
                        <a14:foregroundMark x1="19615" y1="46071" x2="19615" y2="46071"/>
                        <a14:foregroundMark x1="20385" y1="46786" x2="20385" y2="46786"/>
                        <a14:foregroundMark x1="20385" y1="50357" x2="20385" y2="51429"/>
                        <a14:foregroundMark x1="20385" y1="53214" x2="20385" y2="55000"/>
                        <a14:foregroundMark x1="20385" y1="55714" x2="20385" y2="55714"/>
                        <a14:foregroundMark x1="21154" y1="57857" x2="21923" y2="59286"/>
                        <a14:foregroundMark x1="22308" y1="61071" x2="22308" y2="61071"/>
                        <a14:foregroundMark x1="22308" y1="61429" x2="22308" y2="66786"/>
                        <a14:foregroundMark x1="22308" y1="67857" x2="22308" y2="67857"/>
                        <a14:foregroundMark x1="22308" y1="68214" x2="22308" y2="68214"/>
                        <a14:foregroundMark x1="24231" y1="68214" x2="26538" y2="67143"/>
                        <a14:foregroundMark x1="28077" y1="66071" x2="30385" y2="65000"/>
                        <a14:foregroundMark x1="32308" y1="64643" x2="34231" y2="63929"/>
                        <a14:foregroundMark x1="38462" y1="62500" x2="42308" y2="62143"/>
                        <a14:foregroundMark x1="43462" y1="62143" x2="45385" y2="62857"/>
                        <a14:foregroundMark x1="46154" y1="62857" x2="47308" y2="63214"/>
                        <a14:foregroundMark x1="53846" y1="66071" x2="57308" y2="67857"/>
                        <a14:foregroundMark x1="58846" y1="67857" x2="58846" y2="67857"/>
                        <a14:foregroundMark x1="59615" y1="67857" x2="50000" y2="67857"/>
                        <a14:foregroundMark x1="43846" y1="68929" x2="41154" y2="70000"/>
                        <a14:foregroundMark x1="40000" y1="70714" x2="40769" y2="73929"/>
                        <a14:foregroundMark x1="42308" y1="75000" x2="43462" y2="75714"/>
                        <a14:foregroundMark x1="43846" y1="76071" x2="42692" y2="77143"/>
                        <a14:foregroundMark x1="39231" y1="76071" x2="37308" y2="76071"/>
                        <a14:foregroundMark x1="35000" y1="76071" x2="35000" y2="76071"/>
                        <a14:foregroundMark x1="33846" y1="73214" x2="35385" y2="71429"/>
                        <a14:foregroundMark x1="38462" y1="71429" x2="38462" y2="71429"/>
                        <a14:foregroundMark x1="36154" y1="72857" x2="36154" y2="72857"/>
                        <a14:backgroundMark x1="32308" y1="4286" x2="32308" y2="4286"/>
                        <a14:backgroundMark x1="33462" y1="4286" x2="34615" y2="3929"/>
                        <a14:backgroundMark x1="36923" y1="3929" x2="39615" y2="5000"/>
                        <a14:backgroundMark x1="43462" y1="6786" x2="43462" y2="6786"/>
                        <a14:backgroundMark x1="45385" y1="7857" x2="45385" y2="7857"/>
                        <a14:backgroundMark x1="46538" y1="8214" x2="46538" y2="8214"/>
                        <a14:backgroundMark x1="44615" y1="7857" x2="48077" y2="7857"/>
                        <a14:backgroundMark x1="50000" y1="8571" x2="50000" y2="8571"/>
                        <a14:backgroundMark x1="50000" y1="8214" x2="50000" y2="8214"/>
                        <a14:backgroundMark x1="48462" y1="8214" x2="48462" y2="8214"/>
                        <a14:backgroundMark x1="46923" y1="8214" x2="46923" y2="8214"/>
                        <a14:backgroundMark x1="47308" y1="7500" x2="51154" y2="10000"/>
                        <a14:backgroundMark x1="51538" y1="10357" x2="48462" y2="8571"/>
                        <a14:backgroundMark x1="46923" y1="7500" x2="46923" y2="7500"/>
                        <a14:backgroundMark x1="44231" y1="5714" x2="44231" y2="5714"/>
                        <a14:backgroundMark x1="42308" y1="5357" x2="42308" y2="5357"/>
                        <a14:backgroundMark x1="43462" y1="5357" x2="43462" y2="5357"/>
                        <a14:backgroundMark x1="38462" y1="3214" x2="40000" y2="3214"/>
                        <a14:backgroundMark x1="48077" y1="6429" x2="41923" y2="4286"/>
                        <a14:backgroundMark x1="43846" y1="4643" x2="46538" y2="6429"/>
                        <a14:backgroundMark x1="41154" y1="4643" x2="41154" y2="4643"/>
                        <a14:backgroundMark x1="36154" y1="2500" x2="36154" y2="2500"/>
                        <a14:backgroundMark x1="35000" y1="2500" x2="35000" y2="2500"/>
                        <a14:backgroundMark x1="43077" y1="6786" x2="38462" y2="6429"/>
                        <a14:backgroundMark x1="37692" y1="6429" x2="38462" y2="4286"/>
                        <a14:backgroundMark x1="35769" y1="3214" x2="35769" y2="3214"/>
                        <a14:backgroundMark x1="37308" y1="3214" x2="37308" y2="3214"/>
                        <a14:backgroundMark x1="41923" y1="3214" x2="36154" y2="4643"/>
                        <a14:backgroundMark x1="30769" y1="2857" x2="40769" y2="4643"/>
                        <a14:backgroundMark x1="35385" y1="5714" x2="35385" y2="5714"/>
                        <a14:backgroundMark x1="32308" y1="6429" x2="32308" y2="6429"/>
                        <a14:backgroundMark x1="31538" y1="6429" x2="29615" y2="6429"/>
                        <a14:backgroundMark x1="28846" y1="6429" x2="28846" y2="6429"/>
                        <a14:backgroundMark x1="26538" y1="6429" x2="25385" y2="6429"/>
                        <a14:backgroundMark x1="24231" y1="6429" x2="24231" y2="6429"/>
                        <a14:backgroundMark x1="22692" y1="6429" x2="22692" y2="6429"/>
                        <a14:backgroundMark x1="26538" y1="7500" x2="26538" y2="7500"/>
                        <a14:backgroundMark x1="26923" y1="7857" x2="26923" y2="7857"/>
                        <a14:backgroundMark x1="25769" y1="8214" x2="25769" y2="8214"/>
                        <a14:backgroundMark x1="24231" y1="8214" x2="24231" y2="8214"/>
                        <a14:backgroundMark x1="22308" y1="8214" x2="22308" y2="8214"/>
                        <a14:backgroundMark x1="22308" y1="7857" x2="22308" y2="7857"/>
                        <a14:backgroundMark x1="22692" y1="7857" x2="20769" y2="7857"/>
                        <a14:backgroundMark x1="20769" y1="7857" x2="20769" y2="7857"/>
                        <a14:backgroundMark x1="24615" y1="7857" x2="24615" y2="7857"/>
                        <a14:backgroundMark x1="25385" y1="7857" x2="25385" y2="7857"/>
                        <a14:backgroundMark x1="25385" y1="7857" x2="23846" y2="7857"/>
                        <a14:backgroundMark x1="23846" y1="7857" x2="23846" y2="7857"/>
                        <a14:backgroundMark x1="23077" y1="8214" x2="20000" y2="8214"/>
                        <a14:backgroundMark x1="19615" y1="8214" x2="21538" y2="8571"/>
                        <a14:backgroundMark x1="23077" y1="8571" x2="23077" y2="8571"/>
                        <a14:backgroundMark x1="23846" y1="8571" x2="23846" y2="8571"/>
                        <a14:backgroundMark x1="25000" y1="7857" x2="25000" y2="7857"/>
                        <a14:backgroundMark x1="25769" y1="7500" x2="25769" y2="7500"/>
                        <a14:backgroundMark x1="26538" y1="6786" x2="26538" y2="6786"/>
                        <a14:backgroundMark x1="27308" y1="7143" x2="27308" y2="7143"/>
                        <a14:backgroundMark x1="28077" y1="7857" x2="28077" y2="7857"/>
                        <a14:backgroundMark x1="22692" y1="8929" x2="22692" y2="8929"/>
                        <a14:backgroundMark x1="23846" y1="8571" x2="25769" y2="7857"/>
                        <a14:backgroundMark x1="26154" y1="6786" x2="26154" y2="6786"/>
                        <a14:backgroundMark x1="26538" y1="6786" x2="26538" y2="6786"/>
                        <a14:backgroundMark x1="27692" y1="6429" x2="27692" y2="6429"/>
                      </a14:backgroundRemoval>
                    </a14:imgEffect>
                  </a14:imgLayer>
                </a14:imgProps>
              </a:ext>
              <a:ext uri="{28A0092B-C50C-407E-A947-70E740481C1C}">
                <a14:useLocalDpi xmlns:a14="http://schemas.microsoft.com/office/drawing/2010/main" val="0"/>
              </a:ext>
            </a:extLst>
          </a:blip>
          <a:srcRect b="6190"/>
          <a:stretch/>
        </p:blipFill>
        <p:spPr bwMode="auto">
          <a:xfrm>
            <a:off x="774700" y="3812094"/>
            <a:ext cx="3429000" cy="3123190"/>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6153" name="Picture 9" descr="Computer Exe Virus Stock Illustrations – 13 Computer Exe Virus Stock Illustrations, Vectors &amp; Clipart - Dreamstime">
            <a:extLst>
              <a:ext uri="{FF2B5EF4-FFF2-40B4-BE49-F238E27FC236}">
                <a16:creationId xmlns:a16="http://schemas.microsoft.com/office/drawing/2014/main" id="{95DFC88D-8CCA-B7EB-8C2E-F4C9AF37827C}"/>
              </a:ext>
            </a:extLst>
          </p:cNvPr>
          <p:cNvPicPr>
            <a:picLocks noChangeAspect="1" noChangeArrowheads="1"/>
          </p:cNvPicPr>
          <p:nvPr/>
        </p:nvPicPr>
        <p:blipFill>
          <a:blip r:embed="rId6">
            <a:alphaModFix/>
            <a:extLst>
              <a:ext uri="{BEBA8EAE-BF5A-486C-A8C5-ECC9F3942E4B}">
                <a14:imgProps xmlns:a14="http://schemas.microsoft.com/office/drawing/2010/main">
                  <a14:imgLayer r:embed="rId7">
                    <a14:imgEffect>
                      <a14:backgroundRemoval t="10000" b="90000" l="10000" r="90000">
                        <a14:foregroundMark x1="54886" y1="12245" x2="54886" y2="12245"/>
                        <a14:foregroundMark x1="56341" y1="14757" x2="57796" y2="16013"/>
                        <a14:foregroundMark x1="57173" y1="33909" x2="57173" y2="33909"/>
                        <a14:foregroundMark x1="45946" y1="81633" x2="45946" y2="81633"/>
                        <a14:foregroundMark x1="58420" y1="85400" x2="58420" y2="85400"/>
                      </a14:backgroundRemoval>
                    </a14:imgEffect>
                  </a14:imgLayer>
                </a14:imgProps>
              </a:ext>
              <a:ext uri="{28A0092B-C50C-407E-A947-70E740481C1C}">
                <a14:useLocalDpi xmlns:a14="http://schemas.microsoft.com/office/drawing/2010/main" val="0"/>
              </a:ext>
            </a:extLst>
          </a:blip>
          <a:srcRect/>
          <a:stretch>
            <a:fillRect/>
          </a:stretch>
        </p:blipFill>
        <p:spPr bwMode="auto">
          <a:xfrm>
            <a:off x="4847653" y="3812094"/>
            <a:ext cx="3051747" cy="3123190"/>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7359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16092-DB87-4854-93F8-A52BC21509D2}"/>
              </a:ext>
            </a:extLst>
          </p:cNvPr>
          <p:cNvSpPr>
            <a:spLocks noGrp="1"/>
          </p:cNvSpPr>
          <p:nvPr>
            <p:ph type="ctrTitle"/>
          </p:nvPr>
        </p:nvSpPr>
        <p:spPr>
          <a:xfrm>
            <a:off x="1595269" y="0"/>
            <a:ext cx="9001462" cy="830262"/>
          </a:xfrm>
        </p:spPr>
        <p:txBody>
          <a:bodyPr>
            <a:normAutofit/>
          </a:bodyPr>
          <a:lstStyle/>
          <a:p>
            <a:pPr rtl="1"/>
            <a:r>
              <a:rPr lang="ar-EG" dirty="0">
                <a:solidFill>
                  <a:schemeClr val="accent4">
                    <a:lumMod val="75000"/>
                  </a:schemeClr>
                </a:solidFill>
              </a:rPr>
              <a:t>طرق الوقاية والحماية</a:t>
            </a:r>
            <a:endParaRPr lang="en-US" dirty="0">
              <a:solidFill>
                <a:schemeClr val="accent4">
                  <a:lumMod val="75000"/>
                </a:schemeClr>
              </a:solidFill>
            </a:endParaRPr>
          </a:p>
        </p:txBody>
      </p:sp>
      <p:sp>
        <p:nvSpPr>
          <p:cNvPr id="4" name="Rectangle 1">
            <a:extLst>
              <a:ext uri="{FF2B5EF4-FFF2-40B4-BE49-F238E27FC236}">
                <a16:creationId xmlns:a16="http://schemas.microsoft.com/office/drawing/2014/main" id="{B73EC7C3-0787-C030-D7B0-09A927FD9E4F}"/>
              </a:ext>
            </a:extLst>
          </p:cNvPr>
          <p:cNvSpPr>
            <a:spLocks noGrp="1" noChangeArrowheads="1"/>
          </p:cNvSpPr>
          <p:nvPr>
            <p:ph type="subTitle" idx="1"/>
          </p:nvPr>
        </p:nvSpPr>
        <p:spPr bwMode="auto">
          <a:xfrm>
            <a:off x="-57928" y="667252"/>
            <a:ext cx="12307856" cy="4457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r" defTabSz="914400" rtl="1"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ar-SA" altLang="en-US" b="1" i="0" u="none" strike="noStrike" cap="none" normalizeH="0" baseline="0" dirty="0">
                <a:ln>
                  <a:noFill/>
                </a:ln>
                <a:solidFill>
                  <a:schemeClr val="tx1"/>
                </a:solidFill>
                <a:effectLst/>
                <a:latin typeface="Arial" panose="020B0604020202020204" pitchFamily="34" charset="0"/>
                <a:cs typeface="+mj-cs"/>
              </a:rPr>
              <a:t>التحقق من الملفات على الخادم</a:t>
            </a:r>
            <a:r>
              <a:rPr kumimoji="0" lang="en-US" altLang="en-US" b="1" i="0" u="none" strike="noStrike" cap="none" normalizeH="0" baseline="0" dirty="0">
                <a:ln>
                  <a:noFill/>
                </a:ln>
                <a:solidFill>
                  <a:schemeClr val="tx1"/>
                </a:solidFill>
                <a:effectLst/>
                <a:latin typeface="Arial" panose="020B0604020202020204" pitchFamily="34" charset="0"/>
                <a:cs typeface="+mj-cs"/>
              </a:rPr>
              <a:t> </a:t>
            </a:r>
            <a:r>
              <a:rPr kumimoji="0" lang="en-US" altLang="en-US" i="0" u="none" strike="noStrike" cap="none" normalizeH="0" baseline="0" dirty="0">
                <a:ln>
                  <a:noFill/>
                </a:ln>
                <a:solidFill>
                  <a:schemeClr val="tx1"/>
                </a:solidFill>
                <a:effectLst/>
                <a:latin typeface="Arial" panose="020B0604020202020204" pitchFamily="34" charset="0"/>
                <a:cs typeface="+mj-cs"/>
              </a:rPr>
              <a:t>(Server-Side Validation) </a:t>
            </a:r>
            <a:r>
              <a:rPr kumimoji="0" lang="ar-SA" altLang="en-US" i="0" u="none" strike="noStrike" cap="none" normalizeH="0" baseline="0" dirty="0">
                <a:ln>
                  <a:noFill/>
                </a:ln>
                <a:solidFill>
                  <a:schemeClr val="tx1"/>
                </a:solidFill>
                <a:effectLst/>
                <a:latin typeface="Arial" panose="020B0604020202020204" pitchFamily="34" charset="0"/>
                <a:cs typeface="+mj-cs"/>
              </a:rPr>
              <a:t>وعدم الاعتماد على المتصفح فقط</a:t>
            </a:r>
            <a:r>
              <a:rPr kumimoji="0" lang="en-US" altLang="en-US" i="0" u="none" strike="noStrike" cap="none" normalizeH="0" baseline="0" dirty="0">
                <a:ln>
                  <a:noFill/>
                </a:ln>
                <a:solidFill>
                  <a:schemeClr val="tx1"/>
                </a:solidFill>
                <a:effectLst/>
                <a:latin typeface="Arial" panose="020B0604020202020204" pitchFamily="34" charset="0"/>
                <a:cs typeface="+mj-cs"/>
              </a:rPr>
              <a:t>.</a:t>
            </a:r>
          </a:p>
          <a:p>
            <a:pPr marL="342900" marR="0" lvl="0" indent="-342900" algn="r" defTabSz="914400" rtl="1"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ar-SA" altLang="en-US" b="1" i="0" u="none" strike="noStrike" cap="none" normalizeH="0" baseline="0" dirty="0">
                <a:ln>
                  <a:noFill/>
                </a:ln>
                <a:solidFill>
                  <a:schemeClr val="tx1"/>
                </a:solidFill>
                <a:effectLst/>
                <a:latin typeface="Arial" panose="020B0604020202020204" pitchFamily="34" charset="0"/>
                <a:cs typeface="+mj-cs"/>
              </a:rPr>
              <a:t>استخدام القائمة البيضاء</a:t>
            </a:r>
            <a:r>
              <a:rPr kumimoji="0" lang="en-US" altLang="en-US" b="1" i="0" u="none" strike="noStrike" cap="none" normalizeH="0" baseline="0" dirty="0">
                <a:ln>
                  <a:noFill/>
                </a:ln>
                <a:solidFill>
                  <a:schemeClr val="tx1"/>
                </a:solidFill>
                <a:effectLst/>
                <a:latin typeface="Arial" panose="020B0604020202020204" pitchFamily="34" charset="0"/>
                <a:cs typeface="+mj-cs"/>
              </a:rPr>
              <a:t> </a:t>
            </a:r>
            <a:r>
              <a:rPr kumimoji="0" lang="en-US" altLang="en-US" i="0" u="none" strike="noStrike" cap="none" normalizeH="0" baseline="0" dirty="0">
                <a:ln>
                  <a:noFill/>
                </a:ln>
                <a:solidFill>
                  <a:schemeClr val="tx1"/>
                </a:solidFill>
                <a:effectLst/>
                <a:latin typeface="Arial" panose="020B0604020202020204" pitchFamily="34" charset="0"/>
                <a:cs typeface="+mj-cs"/>
              </a:rPr>
              <a:t>(Whitelisting) </a:t>
            </a:r>
            <a:r>
              <a:rPr kumimoji="0" lang="ar-SA" altLang="en-US" i="0" u="none" strike="noStrike" cap="none" normalizeH="0" baseline="0" dirty="0">
                <a:ln>
                  <a:noFill/>
                </a:ln>
                <a:solidFill>
                  <a:schemeClr val="tx1"/>
                </a:solidFill>
                <a:effectLst/>
                <a:latin typeface="Arial" panose="020B0604020202020204" pitchFamily="34" charset="0"/>
                <a:cs typeface="+mj-cs"/>
              </a:rPr>
              <a:t>للسماح بأنواع ملفات محددة فقط</a:t>
            </a:r>
            <a:r>
              <a:rPr kumimoji="0" lang="en-US" altLang="en-US" i="0" u="none" strike="noStrike" cap="none" normalizeH="0" baseline="0" dirty="0">
                <a:ln>
                  <a:noFill/>
                </a:ln>
                <a:solidFill>
                  <a:schemeClr val="tx1"/>
                </a:solidFill>
                <a:effectLst/>
                <a:latin typeface="Arial" panose="020B0604020202020204" pitchFamily="34" charset="0"/>
                <a:cs typeface="+mj-cs"/>
              </a:rPr>
              <a:t>.</a:t>
            </a:r>
          </a:p>
          <a:p>
            <a:pPr marL="342900" marR="0" lvl="0" indent="-342900" algn="r" defTabSz="914400" rtl="1"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ar-SA" altLang="en-US" b="1" i="0" u="none" strike="noStrike" cap="none" normalizeH="0" baseline="0" dirty="0">
                <a:ln>
                  <a:noFill/>
                </a:ln>
                <a:solidFill>
                  <a:schemeClr val="tx1"/>
                </a:solidFill>
                <a:effectLst/>
                <a:latin typeface="Arial" panose="020B0604020202020204" pitchFamily="34" charset="0"/>
                <a:cs typeface="+mj-cs"/>
              </a:rPr>
              <a:t>فحص محتوى الملف</a:t>
            </a:r>
            <a:r>
              <a:rPr kumimoji="0" lang="en-US" altLang="en-US" b="1" i="0" u="none" strike="noStrike" cap="none" normalizeH="0" baseline="0" dirty="0">
                <a:ln>
                  <a:noFill/>
                </a:ln>
                <a:solidFill>
                  <a:schemeClr val="tx1"/>
                </a:solidFill>
                <a:effectLst/>
                <a:latin typeface="Arial" panose="020B0604020202020204" pitchFamily="34" charset="0"/>
                <a:cs typeface="+mj-cs"/>
              </a:rPr>
              <a:t> </a:t>
            </a:r>
            <a:r>
              <a:rPr kumimoji="0" lang="en-US" altLang="en-US" i="0" u="none" strike="noStrike" cap="none" normalizeH="0" baseline="0" dirty="0">
                <a:ln>
                  <a:noFill/>
                </a:ln>
                <a:solidFill>
                  <a:schemeClr val="tx1"/>
                </a:solidFill>
                <a:effectLst/>
                <a:latin typeface="Arial" panose="020B0604020202020204" pitchFamily="34" charset="0"/>
                <a:cs typeface="+mj-cs"/>
              </a:rPr>
              <a:t>(Content Validation) </a:t>
            </a:r>
            <a:r>
              <a:rPr kumimoji="0" lang="ar-SA" altLang="en-US" i="0" u="none" strike="noStrike" cap="none" normalizeH="0" baseline="0" dirty="0">
                <a:ln>
                  <a:noFill/>
                </a:ln>
                <a:solidFill>
                  <a:schemeClr val="tx1"/>
                </a:solidFill>
                <a:effectLst/>
                <a:latin typeface="Arial" panose="020B0604020202020204" pitchFamily="34" charset="0"/>
                <a:cs typeface="+mj-cs"/>
              </a:rPr>
              <a:t>للتأكد من أنه يطابق نوعه </a:t>
            </a:r>
            <a:r>
              <a:rPr kumimoji="0" lang="ar-SA" altLang="en-US" i="0" u="none" strike="noStrike" cap="none" normalizeH="0" baseline="0" dirty="0">
                <a:ln>
                  <a:noFill/>
                </a:ln>
                <a:solidFill>
                  <a:schemeClr val="accent2">
                    <a:lumMod val="40000"/>
                    <a:lumOff val="60000"/>
                  </a:schemeClr>
                </a:solidFill>
                <a:effectLst/>
                <a:latin typeface="Arial" panose="020B0604020202020204" pitchFamily="34" charset="0"/>
                <a:cs typeface="+mj-cs"/>
              </a:rPr>
              <a:t>الحقيقي</a:t>
            </a:r>
            <a:r>
              <a:rPr kumimoji="0" lang="en-US" altLang="en-US" i="0" u="none" strike="noStrike" cap="none" normalizeH="0" baseline="0" dirty="0">
                <a:ln>
                  <a:noFill/>
                </a:ln>
                <a:solidFill>
                  <a:schemeClr val="accent2">
                    <a:lumMod val="40000"/>
                    <a:lumOff val="60000"/>
                  </a:schemeClr>
                </a:solidFill>
                <a:effectLst/>
                <a:latin typeface="Arial" panose="020B0604020202020204" pitchFamily="34" charset="0"/>
                <a:cs typeface="+mj-cs"/>
              </a:rPr>
              <a:t>.</a:t>
            </a:r>
          </a:p>
          <a:p>
            <a:pPr marL="342900" marR="0" lvl="0" indent="-342900" algn="r" defTabSz="914400" rtl="1"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ar-SA" altLang="en-US" b="1" i="0" u="none" strike="noStrike" cap="none" normalizeH="0" baseline="0" dirty="0">
                <a:ln>
                  <a:noFill/>
                </a:ln>
                <a:solidFill>
                  <a:schemeClr val="tx1"/>
                </a:solidFill>
                <a:effectLst/>
                <a:latin typeface="Arial" panose="020B0604020202020204" pitchFamily="34" charset="0"/>
                <a:cs typeface="+mj-cs"/>
              </a:rPr>
              <a:t>إعادة تسمية الملفات</a:t>
            </a:r>
            <a:r>
              <a:rPr kumimoji="0" lang="en-US" altLang="en-US" b="1" i="0" u="none" strike="noStrike" cap="none" normalizeH="0" baseline="0" dirty="0">
                <a:ln>
                  <a:noFill/>
                </a:ln>
                <a:solidFill>
                  <a:schemeClr val="tx1"/>
                </a:solidFill>
                <a:effectLst/>
                <a:latin typeface="Arial" panose="020B0604020202020204" pitchFamily="34" charset="0"/>
                <a:cs typeface="+mj-cs"/>
              </a:rPr>
              <a:t> </a:t>
            </a:r>
            <a:r>
              <a:rPr kumimoji="0" lang="en-US" altLang="en-US" i="0" u="none" strike="noStrike" cap="none" normalizeH="0" baseline="0" dirty="0">
                <a:ln>
                  <a:noFill/>
                </a:ln>
                <a:solidFill>
                  <a:schemeClr val="tx1"/>
                </a:solidFill>
                <a:effectLst/>
                <a:latin typeface="Arial" panose="020B0604020202020204" pitchFamily="34" charset="0"/>
                <a:cs typeface="+mj-cs"/>
              </a:rPr>
              <a:t>(File Renaming) </a:t>
            </a:r>
            <a:r>
              <a:rPr kumimoji="0" lang="ar-SA" altLang="en-US" i="0" u="none" strike="noStrike" cap="none" normalizeH="0" baseline="0" dirty="0">
                <a:ln>
                  <a:noFill/>
                </a:ln>
                <a:solidFill>
                  <a:schemeClr val="tx1"/>
                </a:solidFill>
                <a:effectLst/>
                <a:latin typeface="Arial" panose="020B0604020202020204" pitchFamily="34" charset="0"/>
                <a:cs typeface="+mj-cs"/>
              </a:rPr>
              <a:t>لمنع استغلال أسمائها الأصلية</a:t>
            </a:r>
            <a:r>
              <a:rPr kumimoji="0" lang="en-US" altLang="en-US" i="0" u="none" strike="noStrike" cap="none" normalizeH="0" baseline="0" dirty="0">
                <a:ln>
                  <a:noFill/>
                </a:ln>
                <a:solidFill>
                  <a:schemeClr val="tx1"/>
                </a:solidFill>
                <a:effectLst/>
                <a:latin typeface="Arial" panose="020B0604020202020204" pitchFamily="34" charset="0"/>
                <a:cs typeface="+mj-cs"/>
              </a:rPr>
              <a:t>.</a:t>
            </a:r>
          </a:p>
          <a:p>
            <a:pPr marL="342900" marR="0" lvl="0" indent="-342900" algn="r" defTabSz="914400" rtl="1"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ar-SA" altLang="en-US" b="1" i="0" u="none" strike="noStrike" cap="none" normalizeH="0" baseline="0" dirty="0">
                <a:ln>
                  <a:noFill/>
                </a:ln>
                <a:solidFill>
                  <a:schemeClr val="tx1"/>
                </a:solidFill>
                <a:effectLst/>
                <a:latin typeface="Arial" panose="020B0604020202020204" pitchFamily="34" charset="0"/>
                <a:cs typeface="+mj-cs"/>
              </a:rPr>
              <a:t>تخزين الملفات </a:t>
            </a:r>
            <a:r>
              <a:rPr kumimoji="0" lang="ar-SA" altLang="en-US" i="0" u="none" strike="noStrike" cap="none" normalizeH="0" baseline="0" dirty="0">
                <a:ln>
                  <a:noFill/>
                </a:ln>
                <a:solidFill>
                  <a:schemeClr val="tx1"/>
                </a:solidFill>
                <a:effectLst/>
                <a:latin typeface="Arial" panose="020B0604020202020204" pitchFamily="34" charset="0"/>
                <a:cs typeface="+mj-cs"/>
              </a:rPr>
              <a:t>خارج مجلدات التنفيذ</a:t>
            </a:r>
            <a:r>
              <a:rPr kumimoji="0" lang="en-US" altLang="en-US" i="0" u="none" strike="noStrike" cap="none" normalizeH="0" baseline="0" dirty="0">
                <a:ln>
                  <a:noFill/>
                </a:ln>
                <a:solidFill>
                  <a:schemeClr val="tx1"/>
                </a:solidFill>
                <a:effectLst/>
                <a:latin typeface="Arial" panose="020B0604020202020204" pitchFamily="34" charset="0"/>
                <a:cs typeface="+mj-cs"/>
              </a:rPr>
              <a:t> (Non-Executable Directories) </a:t>
            </a:r>
            <a:r>
              <a:rPr kumimoji="0" lang="ar-SA" altLang="en-US" i="0" u="none" strike="noStrike" cap="none" normalizeH="0" baseline="0" dirty="0">
                <a:ln>
                  <a:noFill/>
                </a:ln>
                <a:solidFill>
                  <a:srgbClr val="FF0000"/>
                </a:solidFill>
                <a:effectLst/>
                <a:latin typeface="Arial" panose="020B0604020202020204" pitchFamily="34" charset="0"/>
                <a:cs typeface="+mj-cs"/>
              </a:rPr>
              <a:t>لمنع تشغيلها</a:t>
            </a:r>
            <a:r>
              <a:rPr kumimoji="0" lang="en-US" altLang="en-US" i="0" u="none" strike="noStrike" cap="none" normalizeH="0" baseline="0" dirty="0">
                <a:ln>
                  <a:noFill/>
                </a:ln>
                <a:solidFill>
                  <a:srgbClr val="FF0000"/>
                </a:solidFill>
                <a:effectLst/>
                <a:latin typeface="Arial" panose="020B0604020202020204" pitchFamily="34" charset="0"/>
                <a:cs typeface="+mj-cs"/>
              </a:rPr>
              <a:t>.</a:t>
            </a:r>
          </a:p>
          <a:p>
            <a:pPr marL="342900" marR="0" lvl="0" indent="-342900" algn="r" defTabSz="914400" rtl="1"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ar-SA" altLang="en-US" b="1" i="0" u="none" strike="noStrike" cap="none" normalizeH="0" baseline="0" dirty="0">
                <a:ln>
                  <a:noFill/>
                </a:ln>
                <a:solidFill>
                  <a:schemeClr val="tx1"/>
                </a:solidFill>
                <a:effectLst/>
                <a:latin typeface="Arial" panose="020B0604020202020204" pitchFamily="34" charset="0"/>
                <a:cs typeface="+mj-cs"/>
              </a:rPr>
              <a:t>تقييد صلاحيات الملفات</a:t>
            </a:r>
            <a:r>
              <a:rPr kumimoji="0" lang="en-US" altLang="en-US" i="0" u="none" strike="noStrike" cap="none" normalizeH="0" baseline="0" dirty="0">
                <a:ln>
                  <a:noFill/>
                </a:ln>
                <a:solidFill>
                  <a:schemeClr val="tx1"/>
                </a:solidFill>
                <a:effectLst/>
                <a:latin typeface="Arial" panose="020B0604020202020204" pitchFamily="34" charset="0"/>
                <a:cs typeface="+mj-cs"/>
              </a:rPr>
              <a:t> (Least Privilege) </a:t>
            </a:r>
            <a:r>
              <a:rPr kumimoji="0" lang="ar-SA" altLang="en-US" i="0" u="none" strike="noStrike" cap="none" normalizeH="0" baseline="0" dirty="0">
                <a:ln>
                  <a:noFill/>
                </a:ln>
                <a:solidFill>
                  <a:schemeClr val="tx1"/>
                </a:solidFill>
                <a:effectLst/>
                <a:latin typeface="Arial" panose="020B0604020202020204" pitchFamily="34" charset="0"/>
                <a:cs typeface="+mj-cs"/>
              </a:rPr>
              <a:t>بحيث لا تمتلك صلاحيات تنفيذ غير ضرورية</a:t>
            </a:r>
            <a:r>
              <a:rPr kumimoji="0" lang="en-US" altLang="en-US" i="0" u="none" strike="noStrike" cap="none" normalizeH="0" baseline="0" dirty="0">
                <a:ln>
                  <a:noFill/>
                </a:ln>
                <a:solidFill>
                  <a:schemeClr val="tx1"/>
                </a:solidFill>
                <a:effectLst/>
                <a:latin typeface="Arial" panose="020B0604020202020204" pitchFamily="34" charset="0"/>
                <a:cs typeface="+mj-cs"/>
              </a:rPr>
              <a:t>.</a:t>
            </a:r>
          </a:p>
          <a:p>
            <a:pPr marL="342900" marR="0" lvl="0" indent="-342900" algn="r" defTabSz="914400" rtl="1"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ar-SA" altLang="en-US" b="1" i="0" u="none" strike="noStrike" cap="none" normalizeH="0" baseline="0" dirty="0">
                <a:ln>
                  <a:noFill/>
                </a:ln>
                <a:solidFill>
                  <a:schemeClr val="tx1"/>
                </a:solidFill>
                <a:effectLst/>
                <a:latin typeface="Arial" panose="020B0604020202020204" pitchFamily="34" charset="0"/>
                <a:cs typeface="+mj-cs"/>
              </a:rPr>
              <a:t>استخدام جدار حماية تطبيقات الويب</a:t>
            </a:r>
            <a:r>
              <a:rPr kumimoji="0" lang="en-US" altLang="en-US" b="1" i="0" u="none" strike="noStrike" cap="none" normalizeH="0" baseline="0" dirty="0">
                <a:ln>
                  <a:noFill/>
                </a:ln>
                <a:solidFill>
                  <a:schemeClr val="tx1"/>
                </a:solidFill>
                <a:effectLst/>
                <a:latin typeface="Arial" panose="020B0604020202020204" pitchFamily="34" charset="0"/>
                <a:cs typeface="+mj-cs"/>
              </a:rPr>
              <a:t> </a:t>
            </a:r>
            <a:r>
              <a:rPr kumimoji="0" lang="en-US" altLang="en-US" i="0" u="none" strike="noStrike" cap="none" normalizeH="0" baseline="0" dirty="0">
                <a:ln>
                  <a:noFill/>
                </a:ln>
                <a:solidFill>
                  <a:schemeClr val="tx1"/>
                </a:solidFill>
                <a:effectLst/>
                <a:latin typeface="Arial" panose="020B0604020202020204" pitchFamily="34" charset="0"/>
                <a:cs typeface="+mj-cs"/>
              </a:rPr>
              <a:t>(Web Application Firewall - WAF) </a:t>
            </a:r>
            <a:r>
              <a:rPr kumimoji="0" lang="ar-SA" altLang="en-US" i="0" u="none" strike="noStrike" cap="none" normalizeH="0" baseline="0" dirty="0">
                <a:ln>
                  <a:noFill/>
                </a:ln>
                <a:solidFill>
                  <a:schemeClr val="tx1"/>
                </a:solidFill>
                <a:effectLst/>
                <a:latin typeface="Arial" panose="020B0604020202020204" pitchFamily="34" charset="0"/>
                <a:cs typeface="+mj-cs"/>
              </a:rPr>
              <a:t>لاكتشاف </a:t>
            </a:r>
            <a:r>
              <a:rPr kumimoji="0" lang="ar-SA" altLang="en-US" i="0" u="none" strike="noStrike" cap="none" normalizeH="0" baseline="0" dirty="0">
                <a:ln>
                  <a:noFill/>
                </a:ln>
                <a:solidFill>
                  <a:srgbClr val="FF0000"/>
                </a:solidFill>
                <a:effectLst/>
                <a:latin typeface="Arial" panose="020B0604020202020204" pitchFamily="34" charset="0"/>
                <a:cs typeface="+mj-cs"/>
              </a:rPr>
              <a:t>ومنع محاولات الاستغلال</a:t>
            </a:r>
            <a:endParaRPr kumimoji="0" lang="ar-EG" altLang="en-US" i="0" u="none" strike="noStrike" cap="none" normalizeH="0" baseline="0" dirty="0">
              <a:ln>
                <a:noFill/>
              </a:ln>
              <a:solidFill>
                <a:srgbClr val="FF0000"/>
              </a:solidFill>
              <a:effectLst/>
              <a:latin typeface="Arial" panose="020B0604020202020204" pitchFamily="34" charset="0"/>
              <a:cs typeface="+mj-cs"/>
            </a:endParaRPr>
          </a:p>
          <a:p>
            <a:pPr marL="342900" marR="0" lvl="0" indent="-342900" algn="r" defTabSz="914400" rtl="1" eaLnBrk="0" fontAlgn="base" latinLnBrk="0" hangingPunct="0">
              <a:lnSpc>
                <a:spcPct val="150000"/>
              </a:lnSpc>
              <a:spcBef>
                <a:spcPct val="0"/>
              </a:spcBef>
              <a:spcAft>
                <a:spcPct val="0"/>
              </a:spcAft>
              <a:buClrTx/>
              <a:buSzTx/>
              <a:buFont typeface="Wingdings" panose="05000000000000000000" pitchFamily="2" charset="2"/>
              <a:buChar char="q"/>
              <a:tabLst/>
            </a:pPr>
            <a:r>
              <a:rPr lang="ar-EG" dirty="0"/>
              <a:t>استخدام آلية التحقق من الروبوتات (</a:t>
            </a:r>
            <a:r>
              <a:rPr lang="en-US" dirty="0">
                <a:solidFill>
                  <a:srgbClr val="00B0F0"/>
                </a:solidFill>
              </a:rPr>
              <a:t>CAPTCHA</a:t>
            </a:r>
            <a:r>
              <a:rPr lang="en-US" dirty="0"/>
              <a:t> </a:t>
            </a:r>
            <a:r>
              <a:rPr lang="ar-EG" dirty="0"/>
              <a:t>) للحد من عمليات الرفع الآلية والهجمات المؤتمتة.</a:t>
            </a:r>
            <a:endParaRPr lang="ar-EG" altLang="en-US" dirty="0">
              <a:effectLst/>
              <a:latin typeface="Arial" panose="020B0604020202020204" pitchFamily="34" charset="0"/>
              <a:cs typeface="+mj-cs"/>
            </a:endParaRPr>
          </a:p>
        </p:txBody>
      </p:sp>
      <p:pic>
        <p:nvPicPr>
          <p:cNvPr id="4101" name="Picture 5" descr="من اختبارات الصور إلى &quot;أنا لست روبوتاً&quot;.. ما قصة الـCAPTCHA؟ | الشرق للأخبار">
            <a:extLst>
              <a:ext uri="{FF2B5EF4-FFF2-40B4-BE49-F238E27FC236}">
                <a16:creationId xmlns:a16="http://schemas.microsoft.com/office/drawing/2014/main" id="{B33009E8-3A47-1FA6-E7BB-3894B80ABFB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3934" t="8972" r="34429" b="8596"/>
          <a:stretch/>
        </p:blipFill>
        <p:spPr bwMode="auto">
          <a:xfrm>
            <a:off x="277686" y="994972"/>
            <a:ext cx="1639157" cy="271184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103" name="Picture 7" descr="ازاي تفعل تحقق هل انت روبوت؟ - مجتمع عرب ووردبريس">
            <a:extLst>
              <a:ext uri="{FF2B5EF4-FFF2-40B4-BE49-F238E27FC236}">
                <a16:creationId xmlns:a16="http://schemas.microsoft.com/office/drawing/2014/main" id="{8EA1FB63-E95F-3662-19EF-F3D42AD447E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493" t="1" r="19695" b="15682"/>
          <a:stretch/>
        </p:blipFill>
        <p:spPr bwMode="auto">
          <a:xfrm>
            <a:off x="-57928" y="5183775"/>
            <a:ext cx="1974771" cy="1682163"/>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4107" name="Picture 11" descr="دليل شامل عن جدار الحماية الخاص بتطبيق الويب (WAF) - ووردبريس بالعربية">
            <a:extLst>
              <a:ext uri="{FF2B5EF4-FFF2-40B4-BE49-F238E27FC236}">
                <a16:creationId xmlns:a16="http://schemas.microsoft.com/office/drawing/2014/main" id="{D28613CC-3807-D87E-5FAE-95FF360E40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0" y="5083221"/>
            <a:ext cx="3048000" cy="1783269"/>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4109" name="Picture 13" descr="جدار الحماية (Firewall): ما هو الحارس الرقمي في عالم التهديدات السيبرانية المتزايدة؟">
            <a:extLst>
              <a:ext uri="{FF2B5EF4-FFF2-40B4-BE49-F238E27FC236}">
                <a16:creationId xmlns:a16="http://schemas.microsoft.com/office/drawing/2014/main" id="{2ECBF77D-1D31-CE7C-3C36-0C03F5A934E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377" t="6200" r="7667" b="11749"/>
          <a:stretch/>
        </p:blipFill>
        <p:spPr bwMode="auto">
          <a:xfrm>
            <a:off x="3962479" y="5083221"/>
            <a:ext cx="3695700" cy="187806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332222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TM04033921[[fn=Damask]]</Template>
  <TotalTime>376</TotalTime>
  <Words>732</Words>
  <Application>Microsoft Office PowerPoint</Application>
  <PresentationFormat>Widescreen</PresentationFormat>
  <Paragraphs>50</Paragraphs>
  <Slides>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Aharoni</vt:lpstr>
      <vt:lpstr>Aptos</vt:lpstr>
      <vt:lpstr>Arial</vt:lpstr>
      <vt:lpstr>Bookman Old Style</vt:lpstr>
      <vt:lpstr>Rockwell</vt:lpstr>
      <vt:lpstr>Wingdings</vt:lpstr>
      <vt:lpstr>Damask</vt:lpstr>
      <vt:lpstr>File Upload Vulnerability</vt:lpstr>
      <vt:lpstr>ما هي ثغرة رفع الملفات؟ </vt:lpstr>
      <vt:lpstr>أسباب حدوث ثغرة رفع الملفات</vt:lpstr>
      <vt:lpstr>أضرار ثغرة رفع الملفات</vt:lpstr>
      <vt:lpstr>أحداث هزت سيرفرات ضخمة !</vt:lpstr>
      <vt:lpstr>الملفات المخادعة</vt:lpstr>
      <vt:lpstr>اخطر انواع الملفات </vt:lpstr>
      <vt:lpstr>طرق الوقاية والحماية</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ledo amr</dc:creator>
  <cp:lastModifiedBy>ledo amr</cp:lastModifiedBy>
  <cp:revision>10</cp:revision>
  <dcterms:created xsi:type="dcterms:W3CDTF">2026-07-30T16:24:02Z</dcterms:created>
  <dcterms:modified xsi:type="dcterms:W3CDTF">2026-07-31T20:24:09Z</dcterms:modified>
</cp:coreProperties>
</file>